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256" r:id="rId5"/>
    <p:sldId id="258" r:id="rId6"/>
    <p:sldId id="257" r:id="rId7"/>
    <p:sldId id="268" r:id="rId8"/>
    <p:sldId id="309" r:id="rId9"/>
    <p:sldId id="308" r:id="rId10"/>
    <p:sldId id="306" r:id="rId11"/>
    <p:sldId id="271" r:id="rId12"/>
    <p:sldId id="259" r:id="rId13"/>
    <p:sldId id="272" r:id="rId14"/>
    <p:sldId id="303" r:id="rId15"/>
    <p:sldId id="273" r:id="rId16"/>
    <p:sldId id="274" r:id="rId17"/>
    <p:sldId id="275" r:id="rId18"/>
    <p:sldId id="260" r:id="rId19"/>
    <p:sldId id="286" r:id="rId20"/>
    <p:sldId id="287" r:id="rId21"/>
    <p:sldId id="288" r:id="rId22"/>
    <p:sldId id="283" r:id="rId23"/>
    <p:sldId id="284" r:id="rId24"/>
    <p:sldId id="285" r:id="rId25"/>
    <p:sldId id="263" r:id="rId26"/>
    <p:sldId id="276" r:id="rId27"/>
    <p:sldId id="299" r:id="rId28"/>
    <p:sldId id="310" r:id="rId29"/>
    <p:sldId id="261" r:id="rId30"/>
    <p:sldId id="300" r:id="rId31"/>
    <p:sldId id="294" r:id="rId32"/>
    <p:sldId id="295" r:id="rId33"/>
    <p:sldId id="296" r:id="rId34"/>
    <p:sldId id="307" r:id="rId35"/>
    <p:sldId id="311" r:id="rId36"/>
    <p:sldId id="301" r:id="rId37"/>
    <p:sldId id="304" r:id="rId38"/>
    <p:sldId id="305" r:id="rId39"/>
    <p:sldId id="266" r:id="rId40"/>
  </p:sldIdLst>
  <p:sldSz cx="12198350" cy="6858000"/>
  <p:notesSz cx="6858000" cy="9144000"/>
  <p:embeddedFontLst>
    <p:embeddedFont>
      <p:font typeface="Georgia" panose="02040502050405020303" pitchFamily="18" charset="0"/>
      <p:regular r:id="rId43"/>
      <p:bold r:id="rId44"/>
      <p:italic r:id="rId45"/>
      <p:boldItalic r:id="rId46"/>
    </p:embeddedFont>
    <p:embeddedFont>
      <p:font typeface="Minion" panose="020B0604020202020204"/>
      <p:regular r:id="rId47"/>
      <p:bold r:id="rId48"/>
      <p:italic r:id="rId49"/>
      <p:boldItalic r:id="rId50"/>
    </p:embeddedFont>
    <p:embeddedFont>
      <p:font typeface="Playfair Display" panose="020F0502020204030204" pitchFamily="2" charset="0"/>
      <p:regular r:id="rId51"/>
      <p:bold r:id="rId52"/>
      <p:italic r:id="rId53"/>
      <p:boldItalic r:id="rId54"/>
    </p:embeddedFont>
    <p:embeddedFont>
      <p:font typeface="Roboto Slab" panose="020F0502020204030204" pitchFamily="2" charset="0"/>
      <p:regular r:id="rId55"/>
      <p:bold r:id="rId56"/>
    </p:embeddedFont>
    <p:embeddedFont>
      <p:font typeface="Segoe UI" panose="020B0502040204020203" pitchFamily="34" charset="0"/>
      <p:regular r:id="rId57"/>
      <p:bold r:id="rId58"/>
      <p:italic r:id="rId59"/>
      <p:boldItalic r:id="rId60"/>
    </p:embeddedFont>
  </p:embeddedFontLst>
  <p:custDataLst>
    <p:tags r:id="rId61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F6762F-A395-3325-78CC-A14222CE526F}" name="Plomp, W.P. (Willemijn)" initials="WP" userId="S::plompwp@vuw.leidenuniv.nl::1de9b2c1-e692-4301-a81e-37de22dad2f7" providerId="AD"/>
  <p188:author id="{87E6FEF8-8EDD-38CC-62AE-667543315565}" name="Blik, S.M. (Sofie)" initials="SB" userId="S::bliksm@vuw.leidenuniv.nl::cfd34622-7a30-4a8b-bb77-b87341df7f6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2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1" autoAdjust="0"/>
    <p:restoredTop sz="96357" autoAdjust="0"/>
  </p:normalViewPr>
  <p:slideViewPr>
    <p:cSldViewPr>
      <p:cViewPr varScale="1">
        <p:scale>
          <a:sx n="59" d="100"/>
          <a:sy n="59" d="100"/>
        </p:scale>
        <p:origin x="924" y="52"/>
      </p:cViewPr>
      <p:guideLst>
        <p:guide orient="horz" pos="2160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font" Target="fonts/font16.fntdata"/><Relationship Id="rId66" Type="http://schemas.microsoft.com/office/2018/10/relationships/authors" Target="authors.xml"/><Relationship Id="rId5" Type="http://schemas.openxmlformats.org/officeDocument/2006/relationships/slide" Target="slides/slide1.xml"/><Relationship Id="rId61" Type="http://schemas.openxmlformats.org/officeDocument/2006/relationships/tags" Target="tags/tag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font" Target="fonts/font9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4.fntdata"/><Relationship Id="rId59" Type="http://schemas.openxmlformats.org/officeDocument/2006/relationships/font" Target="fonts/font17.fntdata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2.fntdata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7.fntdata"/><Relationship Id="rId57" Type="http://schemas.openxmlformats.org/officeDocument/2006/relationships/font" Target="fonts/font15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font" Target="fonts/font18.fntdata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305DC3-1D60-B155-F655-DF01CC33E7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D9210-442D-CB12-607F-03204D3043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842DB0-32BD-4755-ACF3-31EF51BD98D0}" type="datetimeFigureOut">
              <a:rPr lang="nl-NL" smtClean="0"/>
              <a:t>14-7-2026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C9DEBE-655D-5BFC-B6DF-24C054A576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4DA44-85CE-C060-0B5C-C75AF5C7CE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F421A0-F0A7-44E9-977C-935BCC01270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99754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98784-F1F2-4D71-B346-94F94D5EBAA2}" type="datetimeFigureOut">
              <a:rPr lang="nl-NL" smtClean="0"/>
              <a:t>14-7-2026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ECD43-08E5-4945-BC4F-4857758E978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3515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Inhaken op deel 1 </a:t>
            </a:r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86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lnSpc>
                <a:spcPts val="1569"/>
              </a:lnSpc>
              <a:spcAft>
                <a:spcPts val="800"/>
              </a:spcAft>
            </a:pPr>
            <a:r>
              <a:rPr lang="nl-NL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HBO – meer focus op transparantie en hoe dat zou helpen tegen de replicatiecrisis </a:t>
            </a:r>
            <a:endParaRPr lang="nl-NL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569"/>
              </a:lnSpc>
              <a:spcAft>
                <a:spcPts val="800"/>
              </a:spcAft>
            </a:pPr>
            <a:r>
              <a:rPr lang="nl-NL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Gen H-index, geen publicatiedruk. -&gt; benoem verschil uni/hbo</a:t>
            </a:r>
            <a:r>
              <a:rPr lang="nl-NL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  <a:t> </a:t>
            </a:r>
            <a:br>
              <a:rPr lang="nl-NL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r>
              <a:rPr lang="nl-NL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data geeft meer gewicht aan je resultaten</a:t>
            </a:r>
            <a:endParaRPr lang="nl-NL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1589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79751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Hoe gevoelig &amp; wat is er beloofd in de </a:t>
            </a:r>
            <a:r>
              <a:rPr lang="nl-NL" dirty="0" err="1"/>
              <a:t>informed</a:t>
            </a:r>
            <a:r>
              <a:rPr lang="nl-NL" dirty="0"/>
              <a:t> consent?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5073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5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"/>
            <a:ext cx="12198349" cy="4521941"/>
          </a:xfrm>
          <a:solidFill>
            <a:srgbClr val="8592BC"/>
          </a:solid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nl-NL" dirty="0"/>
              <a:t>..</a:t>
            </a: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"/>
            <a:ext cx="12198350" cy="3719335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nl-NL" dirty="0"/>
              <a:t>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042D72-5F3C-F8FD-639A-315A375BC8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0" y="4546879"/>
            <a:ext cx="3406752" cy="189264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511300" y="1052736"/>
            <a:ext cx="10298858" cy="1656184"/>
          </a:xfrm>
        </p:spPr>
        <p:txBody>
          <a:bodyPr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Titel van de presentatie</a:t>
            </a:r>
          </a:p>
        </p:txBody>
      </p:sp>
      <p:sp>
        <p:nvSpPr>
          <p:cNvPr id="20" name="Tijdelijke aanduiding voor tekst 19"/>
          <p:cNvSpPr>
            <a:spLocks noGrp="1"/>
          </p:cNvSpPr>
          <p:nvPr>
            <p:ph type="body" sz="quarter" idx="14" hasCustomPrompt="1"/>
          </p:nvPr>
        </p:nvSpPr>
        <p:spPr>
          <a:xfrm>
            <a:off x="1511300" y="3934610"/>
            <a:ext cx="5828311" cy="393700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Subtitel presentatie</a:t>
            </a:r>
          </a:p>
        </p:txBody>
      </p:sp>
      <p:sp>
        <p:nvSpPr>
          <p:cNvPr id="8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7467327" y="3934684"/>
            <a:ext cx="4326359" cy="39412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000" y="6543376"/>
            <a:ext cx="2846250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37975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Titel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404663" y="1252836"/>
            <a:ext cx="6846640" cy="4795836"/>
          </a:xfrm>
          <a:noFill/>
        </p:spPr>
        <p:txBody>
          <a:bodyPr vert="horz" wrap="none" lIns="0" tIns="0" rIns="0" bIns="0"/>
          <a:lstStyle>
            <a:lvl1pPr marL="361950" indent="-361950">
              <a:spcBef>
                <a:spcPts val="800"/>
              </a:spcBef>
              <a:spcAft>
                <a:spcPts val="800"/>
              </a:spcAft>
              <a:buClr>
                <a:schemeClr val="bg2"/>
              </a:buClr>
              <a:buFont typeface="+mj-lt"/>
              <a:buAutoNum type="arabicPeriod"/>
              <a:defRPr sz="2400">
                <a:solidFill>
                  <a:schemeClr val="bg2"/>
                </a:solidFill>
              </a:defRPr>
            </a:lvl1pPr>
            <a:lvl2pPr marL="542925" indent="-180975">
              <a:buClr>
                <a:schemeClr val="bg2"/>
              </a:buClr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 marL="361950" indent="-361950">
              <a:spcBef>
                <a:spcPts val="800"/>
              </a:spcBef>
              <a:spcAft>
                <a:spcPts val="800"/>
              </a:spcAft>
              <a:buClr>
                <a:schemeClr val="bg2"/>
              </a:buClr>
              <a:buFont typeface="+mj-lt"/>
              <a:buAutoNum type="arabicPeriod"/>
              <a:tabLst/>
              <a:defRPr sz="2400">
                <a:solidFill>
                  <a:schemeClr val="bg2"/>
                </a:solidFill>
              </a:defRPr>
            </a:lvl6pPr>
            <a:lvl7pPr marL="542925" indent="-180975">
              <a:buClr>
                <a:schemeClr val="bg2"/>
              </a:buClr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</a:defRPr>
            </a:lvl7pPr>
            <a:lvl8pPr>
              <a:defRPr>
                <a:solidFill>
                  <a:schemeClr val="bg2"/>
                </a:solidFill>
              </a:defRPr>
            </a:lvl8pPr>
            <a:lvl9pPr>
              <a:defRPr>
                <a:solidFill>
                  <a:schemeClr val="bg2"/>
                </a:solidFill>
              </a:defRPr>
            </a:lvl9pPr>
          </a:lstStyle>
          <a:p>
            <a:pPr lvl="0"/>
            <a:r>
              <a:rPr lang="nl-NL" dirty="0"/>
              <a:t>Opsomming</a:t>
            </a:r>
          </a:p>
          <a:p>
            <a:pPr lvl="1"/>
            <a:r>
              <a:rPr lang="nl-NL" dirty="0" err="1"/>
              <a:t>Bullet</a:t>
            </a:r>
            <a:endParaRPr lang="nl-NL" dirty="0"/>
          </a:p>
          <a:p>
            <a:pPr lvl="2"/>
            <a:r>
              <a:rPr lang="nl-NL" dirty="0"/>
              <a:t>Leestekst</a:t>
            </a:r>
          </a:p>
          <a:p>
            <a:pPr lvl="3"/>
            <a:r>
              <a:rPr lang="nl-NL" dirty="0"/>
              <a:t>Kopje wit</a:t>
            </a:r>
          </a:p>
          <a:p>
            <a:pPr lvl="4"/>
            <a:r>
              <a:rPr lang="nl-NL" dirty="0"/>
              <a:t>Kopje geel</a:t>
            </a:r>
          </a:p>
          <a:p>
            <a:pPr lvl="5"/>
            <a:r>
              <a:rPr lang="nl-NL" dirty="0"/>
              <a:t>Opsomming</a:t>
            </a:r>
          </a:p>
          <a:p>
            <a:pPr lvl="6"/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sz="1800" dirty="0"/>
              <a:t>Leestekst</a:t>
            </a:r>
          </a:p>
          <a:p>
            <a:pPr lvl="8"/>
            <a:r>
              <a:rPr lang="nl-NL" dirty="0"/>
              <a:t>Kopje wit</a:t>
            </a:r>
          </a:p>
        </p:txBody>
      </p:sp>
      <p:sp>
        <p:nvSpPr>
          <p:cNvPr id="7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7453634" y="1252538"/>
            <a:ext cx="4339905" cy="4795837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nl-NL" dirty="0"/>
              <a:t>Klik hier om een</a:t>
            </a:r>
            <a:br>
              <a:rPr lang="nl-NL" dirty="0"/>
            </a:br>
            <a:r>
              <a:rPr lang="nl-NL" dirty="0"/>
              <a:t>afbeelding in te voegen</a:t>
            </a:r>
          </a:p>
        </p:txBody>
      </p:sp>
      <p:grpSp>
        <p:nvGrpSpPr>
          <p:cNvPr id="8" name="Grid" hidden="1"/>
          <p:cNvGrpSpPr/>
          <p:nvPr userDrawn="1"/>
        </p:nvGrpSpPr>
        <p:grpSpPr>
          <a:xfrm>
            <a:off x="0" y="0"/>
            <a:ext cx="12198353" cy="6858004"/>
            <a:chOff x="-2" y="-1"/>
            <a:chExt cx="12198353" cy="6858004"/>
          </a:xfrm>
        </p:grpSpPr>
        <p:sp>
          <p:nvSpPr>
            <p:cNvPr id="9" name="Rechthoek 8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4" name="Rechthoek 13"/>
            <p:cNvSpPr/>
            <p:nvPr userDrawn="1"/>
          </p:nvSpPr>
          <p:spPr bwMode="auto">
            <a:xfrm rot="5400000">
              <a:off x="3923465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pic>
        <p:nvPicPr>
          <p:cNvPr id="15" name="Afbeelding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43" y="6543376"/>
            <a:ext cx="4657501" cy="27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A41AF8-08C6-024A-0EEB-61DC57D749FD}"/>
              </a:ext>
            </a:extLst>
          </p:cNvPr>
          <p:cNvSpPr txBox="1"/>
          <p:nvPr userDrawn="1"/>
        </p:nvSpPr>
        <p:spPr>
          <a:xfrm>
            <a:off x="4744718" y="4653136"/>
            <a:ext cx="994417" cy="4046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nl-N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D0FFC1-A543-9480-1C35-A9972C883679}"/>
              </a:ext>
            </a:extLst>
          </p:cNvPr>
          <p:cNvSpPr txBox="1"/>
          <p:nvPr userDrawn="1"/>
        </p:nvSpPr>
        <p:spPr>
          <a:xfrm>
            <a:off x="11642269" y="6547371"/>
            <a:ext cx="3429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15A3B607-532D-426E-B62E-9D16D97F3827}" type="slidenum">
              <a:rPr lang="nl-NL" sz="1200" smtClean="0">
                <a:solidFill>
                  <a:schemeClr val="bg1"/>
                </a:solidFill>
              </a:rPr>
              <a:pPr algn="ctr"/>
              <a:t>‹#›</a:t>
            </a:fld>
            <a:endParaRPr lang="nl-NL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26134"/>
      </p:ext>
    </p:extLst>
  </p:cSld>
  <p:clrMapOvr>
    <a:masterClrMapping/>
  </p:clrMapOvr>
  <p:transition spd="slow">
    <p:wipe dir="r"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Titel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horz"/>
          <a:lstStyle/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2"/>
            <a:r>
              <a:rPr lang="nl-NL" dirty="0"/>
              <a:t>Leestekst</a:t>
            </a:r>
          </a:p>
          <a:p>
            <a:pPr lvl="3"/>
            <a:r>
              <a:rPr lang="nl-NL" dirty="0"/>
              <a:t>Kopje donker blauw</a:t>
            </a:r>
          </a:p>
          <a:p>
            <a:pPr lvl="4"/>
            <a:r>
              <a:rPr lang="nl-NL" dirty="0"/>
              <a:t>Kopje licht blauw</a:t>
            </a:r>
          </a:p>
          <a:p>
            <a:pPr lvl="5"/>
            <a:r>
              <a:rPr lang="nl-NL" dirty="0" err="1"/>
              <a:t>Bullet</a:t>
            </a:r>
            <a:endParaRPr lang="nl-NL" dirty="0"/>
          </a:p>
          <a:p>
            <a:pPr lvl="6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sz="1800" dirty="0"/>
              <a:t>Leestekst</a:t>
            </a:r>
          </a:p>
          <a:p>
            <a:pPr lvl="8"/>
            <a:r>
              <a:rPr lang="nl-NL" dirty="0"/>
              <a:t>Kopje donker blauw</a:t>
            </a:r>
          </a:p>
        </p:txBody>
      </p:sp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43" y="6543376"/>
            <a:ext cx="4657501" cy="27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6DB140-8A7A-F1BC-EAF3-0F2DE30DE7C7}"/>
              </a:ext>
            </a:extLst>
          </p:cNvPr>
          <p:cNvSpPr txBox="1"/>
          <p:nvPr userDrawn="1"/>
        </p:nvSpPr>
        <p:spPr>
          <a:xfrm>
            <a:off x="11642269" y="6547371"/>
            <a:ext cx="3429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15A3B607-532D-426E-B62E-9D16D97F3827}" type="slidenum">
              <a:rPr lang="nl-NL" sz="1200" smtClean="0">
                <a:solidFill>
                  <a:schemeClr val="bg1"/>
                </a:solidFill>
              </a:rPr>
              <a:pPr algn="ctr"/>
              <a:t>‹#›</a:t>
            </a:fld>
            <a:endParaRPr lang="nl-NL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596851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&amp; Beeld 75%/25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Titel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404662" y="1252836"/>
            <a:ext cx="7926761" cy="4795836"/>
          </a:xfrm>
        </p:spPr>
        <p:txBody>
          <a:bodyPr vert="horz"/>
          <a:lstStyle/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2"/>
            <a:r>
              <a:rPr lang="nl-NL" dirty="0"/>
              <a:t>Leestekst</a:t>
            </a:r>
          </a:p>
          <a:p>
            <a:pPr lvl="3"/>
            <a:r>
              <a:rPr lang="nl-NL" dirty="0"/>
              <a:t>Kopje donker blauw</a:t>
            </a:r>
          </a:p>
          <a:p>
            <a:pPr lvl="4"/>
            <a:r>
              <a:rPr lang="nl-NL" dirty="0"/>
              <a:t>Kopje licht blauw</a:t>
            </a:r>
          </a:p>
          <a:p>
            <a:pPr lvl="5"/>
            <a:r>
              <a:rPr lang="nl-NL" dirty="0" err="1"/>
              <a:t>Bullet</a:t>
            </a:r>
            <a:endParaRPr lang="nl-NL" dirty="0"/>
          </a:p>
          <a:p>
            <a:pPr lvl="6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sz="1800" dirty="0"/>
              <a:t>Leestekst</a:t>
            </a:r>
          </a:p>
          <a:p>
            <a:pPr lvl="8"/>
            <a:r>
              <a:rPr lang="nl-NL" dirty="0"/>
              <a:t>Kopje donker blauw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8353" cy="6858004"/>
            <a:chOff x="-2" y="-1"/>
            <a:chExt cx="12198353" cy="6858004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5003585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8533755" y="1252538"/>
            <a:ext cx="3259784" cy="4795837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nl-NL" dirty="0"/>
              <a:t>Klik hier om een</a:t>
            </a:r>
            <a:br>
              <a:rPr lang="nl-NL" dirty="0"/>
            </a:br>
            <a:r>
              <a:rPr lang="nl-NL" dirty="0"/>
              <a:t>afbeelding in te voegen</a:t>
            </a:r>
          </a:p>
        </p:txBody>
      </p:sp>
      <p:pic>
        <p:nvPicPr>
          <p:cNvPr id="16" name="Afbeelding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43" y="6543376"/>
            <a:ext cx="4657501" cy="27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0C1E6F9-46FC-1F38-ABF3-3E6489EE9F6C}"/>
              </a:ext>
            </a:extLst>
          </p:cNvPr>
          <p:cNvSpPr txBox="1"/>
          <p:nvPr userDrawn="1"/>
        </p:nvSpPr>
        <p:spPr>
          <a:xfrm>
            <a:off x="11642269" y="6547371"/>
            <a:ext cx="3429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15A3B607-532D-426E-B62E-9D16D97F3827}" type="slidenum">
              <a:rPr lang="nl-NL" sz="1200" smtClean="0">
                <a:solidFill>
                  <a:schemeClr val="bg1"/>
                </a:solidFill>
              </a:rPr>
              <a:pPr algn="ctr"/>
              <a:t>‹#›</a:t>
            </a:fld>
            <a:endParaRPr lang="nl-NL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302820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&amp; Beeld 50%/5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Titel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404662" y="1252836"/>
            <a:ext cx="5593347" cy="4795836"/>
          </a:xfrm>
        </p:spPr>
        <p:txBody>
          <a:bodyPr vert="horz"/>
          <a:lstStyle/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2"/>
            <a:r>
              <a:rPr lang="nl-NL" dirty="0"/>
              <a:t>Leestekst</a:t>
            </a:r>
          </a:p>
          <a:p>
            <a:pPr lvl="3"/>
            <a:r>
              <a:rPr lang="nl-NL" dirty="0"/>
              <a:t>Kopje donker blauw</a:t>
            </a:r>
          </a:p>
          <a:p>
            <a:pPr lvl="4"/>
            <a:r>
              <a:rPr lang="nl-NL" dirty="0"/>
              <a:t>Kopje licht blauw</a:t>
            </a:r>
          </a:p>
          <a:p>
            <a:pPr lvl="5"/>
            <a:r>
              <a:rPr lang="nl-NL" dirty="0" err="1"/>
              <a:t>Bullet</a:t>
            </a:r>
            <a:endParaRPr lang="nl-NL" dirty="0"/>
          </a:p>
          <a:p>
            <a:pPr lvl="6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sz="1800" dirty="0"/>
              <a:t>Leestekst</a:t>
            </a:r>
          </a:p>
          <a:p>
            <a:pPr lvl="8"/>
            <a:r>
              <a:rPr lang="nl-NL" dirty="0"/>
              <a:t>Kopje donker blauw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2" y="-1"/>
            <a:ext cx="12198353" cy="6858004"/>
            <a:chOff x="-2" y="-1"/>
            <a:chExt cx="12198353" cy="6858004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2670173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6200775" y="1252538"/>
            <a:ext cx="5592763" cy="4795837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nl-NL" dirty="0"/>
              <a:t>Klik hier om een</a:t>
            </a:r>
            <a:br>
              <a:rPr lang="nl-NL" dirty="0"/>
            </a:br>
            <a:r>
              <a:rPr lang="nl-NL" dirty="0"/>
              <a:t>afbeelding in te voegen</a:t>
            </a:r>
          </a:p>
        </p:txBody>
      </p:sp>
      <p:pic>
        <p:nvPicPr>
          <p:cNvPr id="16" name="Afbeelding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43" y="6543376"/>
            <a:ext cx="4657501" cy="27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784912-1B24-0620-BC33-0DA38BC9294D}"/>
              </a:ext>
            </a:extLst>
          </p:cNvPr>
          <p:cNvSpPr txBox="1"/>
          <p:nvPr userDrawn="1"/>
        </p:nvSpPr>
        <p:spPr>
          <a:xfrm>
            <a:off x="11642269" y="6547371"/>
            <a:ext cx="3429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15A3B607-532D-426E-B62E-9D16D97F3827}" type="slidenum">
              <a:rPr lang="nl-NL" sz="1200" smtClean="0">
                <a:solidFill>
                  <a:schemeClr val="bg1"/>
                </a:solidFill>
              </a:rPr>
              <a:pPr algn="ctr"/>
              <a:t>‹#›</a:t>
            </a:fld>
            <a:endParaRPr lang="nl-NL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767422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&amp; Beeld 25%/75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Titel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404662" y="1252836"/>
            <a:ext cx="3534273" cy="4795836"/>
          </a:xfrm>
        </p:spPr>
        <p:txBody>
          <a:bodyPr vert="horz"/>
          <a:lstStyle/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2"/>
            <a:r>
              <a:rPr lang="nl-NL" dirty="0"/>
              <a:t>Leestekst</a:t>
            </a:r>
          </a:p>
          <a:p>
            <a:pPr lvl="3"/>
            <a:r>
              <a:rPr lang="nl-NL" dirty="0"/>
              <a:t>Kopje donker blauw</a:t>
            </a:r>
          </a:p>
          <a:p>
            <a:pPr lvl="4"/>
            <a:r>
              <a:rPr lang="nl-NL" dirty="0"/>
              <a:t>Kopje licht blauw</a:t>
            </a:r>
          </a:p>
          <a:p>
            <a:pPr lvl="5"/>
            <a:r>
              <a:rPr lang="nl-NL" dirty="0" err="1"/>
              <a:t>Bullet</a:t>
            </a:r>
            <a:endParaRPr lang="nl-NL" dirty="0"/>
          </a:p>
          <a:p>
            <a:pPr lvl="6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sz="1800" dirty="0"/>
              <a:t>Leestekst</a:t>
            </a:r>
          </a:p>
          <a:p>
            <a:pPr lvl="8"/>
            <a:r>
              <a:rPr lang="nl-NL" dirty="0"/>
              <a:t>Kopje donker blauw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2" y="-1"/>
            <a:ext cx="12198353" cy="6858004"/>
            <a:chOff x="-2" y="-1"/>
            <a:chExt cx="12198353" cy="6858004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611099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4141267" y="1252538"/>
            <a:ext cx="7652271" cy="4795837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nl-NL" dirty="0"/>
              <a:t>Klik hier om een</a:t>
            </a:r>
            <a:br>
              <a:rPr lang="nl-NL" dirty="0"/>
            </a:br>
            <a:r>
              <a:rPr lang="nl-NL" dirty="0"/>
              <a:t>afbeelding in te voegen</a:t>
            </a:r>
          </a:p>
        </p:txBody>
      </p:sp>
      <p:pic>
        <p:nvPicPr>
          <p:cNvPr id="16" name="Afbeelding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43" y="6543376"/>
            <a:ext cx="4657501" cy="27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5943295-5AC7-D608-27CB-8261C023FF45}"/>
              </a:ext>
            </a:extLst>
          </p:cNvPr>
          <p:cNvSpPr txBox="1"/>
          <p:nvPr userDrawn="1"/>
        </p:nvSpPr>
        <p:spPr>
          <a:xfrm>
            <a:off x="11642269" y="6547371"/>
            <a:ext cx="3429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15A3B607-532D-426E-B62E-9D16D97F3827}" type="slidenum">
              <a:rPr lang="nl-NL" sz="1200" smtClean="0">
                <a:solidFill>
                  <a:schemeClr val="bg1"/>
                </a:solidFill>
              </a:rPr>
              <a:pPr algn="ctr"/>
              <a:t>‹#›</a:t>
            </a:fld>
            <a:endParaRPr lang="nl-NL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317621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eld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Titel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2" y="-1"/>
            <a:ext cx="12198353" cy="6858003"/>
            <a:chOff x="-2" y="-1"/>
            <a:chExt cx="12198353" cy="6858003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404663" y="1252538"/>
            <a:ext cx="11388876" cy="4795837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nl-NL" dirty="0"/>
              <a:t>Klik hier om een</a:t>
            </a:r>
            <a:br>
              <a:rPr lang="nl-NL" dirty="0"/>
            </a:br>
            <a:r>
              <a:rPr lang="nl-NL" dirty="0"/>
              <a:t>afbeelding in te voegen</a:t>
            </a:r>
          </a:p>
        </p:txBody>
      </p:sp>
      <p:pic>
        <p:nvPicPr>
          <p:cNvPr id="15" name="Afbeelding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43" y="6543376"/>
            <a:ext cx="4657501" cy="27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E17EC8-C83A-20FF-5E3A-09DEB91A8D1B}"/>
              </a:ext>
            </a:extLst>
          </p:cNvPr>
          <p:cNvSpPr txBox="1"/>
          <p:nvPr userDrawn="1"/>
        </p:nvSpPr>
        <p:spPr>
          <a:xfrm>
            <a:off x="11642269" y="6547371"/>
            <a:ext cx="3429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15A3B607-532D-426E-B62E-9D16D97F3827}" type="slidenum">
              <a:rPr lang="nl-NL" sz="1200" smtClean="0">
                <a:solidFill>
                  <a:schemeClr val="bg1"/>
                </a:solidFill>
              </a:rPr>
              <a:pPr algn="ctr"/>
              <a:t>‹#›</a:t>
            </a:fld>
            <a:endParaRPr lang="nl-NL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258224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&amp; Beeld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Titel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404662" y="1252836"/>
            <a:ext cx="5593347" cy="4795836"/>
          </a:xfrm>
        </p:spPr>
        <p:txBody>
          <a:bodyPr vert="horz"/>
          <a:lstStyle/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2"/>
            <a:r>
              <a:rPr lang="nl-NL" dirty="0"/>
              <a:t>Leestekst</a:t>
            </a:r>
          </a:p>
          <a:p>
            <a:pPr lvl="3"/>
            <a:r>
              <a:rPr lang="nl-NL" dirty="0"/>
              <a:t>Kopje donker blauw</a:t>
            </a:r>
          </a:p>
          <a:p>
            <a:pPr lvl="4"/>
            <a:r>
              <a:rPr lang="nl-NL" dirty="0"/>
              <a:t>Kopje licht blauw</a:t>
            </a:r>
          </a:p>
          <a:p>
            <a:pPr lvl="5"/>
            <a:r>
              <a:rPr lang="nl-NL" dirty="0" err="1"/>
              <a:t>Bullet</a:t>
            </a:r>
            <a:endParaRPr lang="nl-NL" dirty="0"/>
          </a:p>
          <a:p>
            <a:pPr lvl="6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sz="1800" dirty="0"/>
              <a:t>Leestekst</a:t>
            </a:r>
          </a:p>
          <a:p>
            <a:pPr lvl="8"/>
            <a:r>
              <a:rPr lang="nl-NL" dirty="0"/>
              <a:t>Kopje donker blauw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2" y="-1"/>
            <a:ext cx="12218777" cy="6858004"/>
            <a:chOff x="-2" y="-1"/>
            <a:chExt cx="12218777" cy="6858004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2670173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5" name="Rechthoek 14"/>
            <p:cNvSpPr/>
            <p:nvPr userDrawn="1"/>
          </p:nvSpPr>
          <p:spPr bwMode="auto">
            <a:xfrm rot="5400000">
              <a:off x="5568012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6" name="Rechthoek 15"/>
            <p:cNvSpPr/>
            <p:nvPr userDrawn="1"/>
          </p:nvSpPr>
          <p:spPr bwMode="auto">
            <a:xfrm rot="10800000">
              <a:off x="5360772" y="3549589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6200776" y="1252538"/>
            <a:ext cx="2695072" cy="2297049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nl-NL" dirty="0"/>
              <a:t>Klik hier om een</a:t>
            </a:r>
            <a:br>
              <a:rPr lang="nl-NL" dirty="0"/>
            </a:br>
            <a:r>
              <a:rPr lang="nl-NL" dirty="0"/>
              <a:t>afbeelding in te voegen</a:t>
            </a:r>
          </a:p>
        </p:txBody>
      </p:sp>
      <p:sp>
        <p:nvSpPr>
          <p:cNvPr id="17" name="Tijdelijke aanduiding voor afbeelding 13"/>
          <p:cNvSpPr>
            <a:spLocks noGrp="1"/>
          </p:cNvSpPr>
          <p:nvPr>
            <p:ph type="pic" sz="quarter" idx="14" hasCustomPrompt="1"/>
          </p:nvPr>
        </p:nvSpPr>
        <p:spPr>
          <a:xfrm>
            <a:off x="9098614" y="1252538"/>
            <a:ext cx="2695072" cy="2297049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nl-NL" dirty="0"/>
              <a:t>Klik hier om een</a:t>
            </a:r>
            <a:br>
              <a:rPr lang="nl-NL" dirty="0"/>
            </a:br>
            <a:r>
              <a:rPr lang="nl-NL" dirty="0"/>
              <a:t>afbeelding in te voegen</a:t>
            </a:r>
          </a:p>
        </p:txBody>
      </p:sp>
      <p:sp>
        <p:nvSpPr>
          <p:cNvPr id="18" name="Tijdelijke aanduiding voor afbeelding 13"/>
          <p:cNvSpPr>
            <a:spLocks noGrp="1"/>
          </p:cNvSpPr>
          <p:nvPr>
            <p:ph type="pic" sz="quarter" idx="15" hasCustomPrompt="1"/>
          </p:nvPr>
        </p:nvSpPr>
        <p:spPr>
          <a:xfrm>
            <a:off x="6200776" y="3751623"/>
            <a:ext cx="2695072" cy="2297049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nl-NL" dirty="0"/>
              <a:t>Klik hier om een</a:t>
            </a:r>
            <a:br>
              <a:rPr lang="nl-NL" dirty="0"/>
            </a:br>
            <a:r>
              <a:rPr lang="nl-NL" dirty="0"/>
              <a:t>afbeelding in te voegen</a:t>
            </a:r>
          </a:p>
        </p:txBody>
      </p:sp>
      <p:sp>
        <p:nvSpPr>
          <p:cNvPr id="19" name="Tijdelijke aanduiding voor afbeelding 13"/>
          <p:cNvSpPr>
            <a:spLocks noGrp="1"/>
          </p:cNvSpPr>
          <p:nvPr>
            <p:ph type="pic" sz="quarter" idx="16" hasCustomPrompt="1"/>
          </p:nvPr>
        </p:nvSpPr>
        <p:spPr>
          <a:xfrm>
            <a:off x="9098614" y="3751623"/>
            <a:ext cx="2695072" cy="2297049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nl-NL" dirty="0"/>
              <a:t>Klik hier om een</a:t>
            </a:r>
            <a:br>
              <a:rPr lang="nl-NL" dirty="0"/>
            </a:br>
            <a:r>
              <a:rPr lang="nl-NL" dirty="0"/>
              <a:t>afbeelding in te voegen</a:t>
            </a:r>
          </a:p>
        </p:txBody>
      </p:sp>
      <p:pic>
        <p:nvPicPr>
          <p:cNvPr id="21" name="Afbeelding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43" y="6543376"/>
            <a:ext cx="4657501" cy="27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9F2E81-3FA2-3CE3-D568-1F461265D331}"/>
              </a:ext>
            </a:extLst>
          </p:cNvPr>
          <p:cNvSpPr txBox="1"/>
          <p:nvPr userDrawn="1"/>
        </p:nvSpPr>
        <p:spPr>
          <a:xfrm>
            <a:off x="11642269" y="6547371"/>
            <a:ext cx="3429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15A3B607-532D-426E-B62E-9D16D97F3827}" type="slidenum">
              <a:rPr lang="nl-NL" sz="1200" smtClean="0">
                <a:solidFill>
                  <a:schemeClr val="bg1"/>
                </a:solidFill>
              </a:rPr>
              <a:pPr algn="ctr"/>
              <a:t>‹#›</a:t>
            </a:fld>
            <a:endParaRPr lang="nl-NL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173449"/>
      </p:ext>
    </p:extLst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&amp; Beeld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Titel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404662" y="1252836"/>
            <a:ext cx="5593347" cy="4795836"/>
          </a:xfrm>
        </p:spPr>
        <p:txBody>
          <a:bodyPr vert="horz"/>
          <a:lstStyle/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2"/>
            <a:r>
              <a:rPr lang="nl-NL" dirty="0"/>
              <a:t>Leestekst</a:t>
            </a:r>
          </a:p>
          <a:p>
            <a:pPr lvl="3"/>
            <a:r>
              <a:rPr lang="nl-NL" dirty="0"/>
              <a:t>Kopje donker blauw</a:t>
            </a:r>
          </a:p>
          <a:p>
            <a:pPr lvl="4"/>
            <a:r>
              <a:rPr lang="nl-NL" dirty="0"/>
              <a:t>Kopje licht blauw</a:t>
            </a:r>
          </a:p>
          <a:p>
            <a:pPr lvl="5"/>
            <a:r>
              <a:rPr lang="nl-NL" dirty="0" err="1"/>
              <a:t>Bullet</a:t>
            </a:r>
            <a:endParaRPr lang="nl-NL" dirty="0"/>
          </a:p>
          <a:p>
            <a:pPr lvl="6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sz="1800" dirty="0"/>
              <a:t>Leestekst</a:t>
            </a:r>
          </a:p>
          <a:p>
            <a:pPr lvl="8"/>
            <a:r>
              <a:rPr lang="nl-NL" dirty="0"/>
              <a:t>Kopje donker blauw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2" y="-1"/>
            <a:ext cx="12198353" cy="6858004"/>
            <a:chOff x="-2" y="-1"/>
            <a:chExt cx="12198353" cy="6858004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2670173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5" name="Rechthoek 14"/>
            <p:cNvSpPr/>
            <p:nvPr userDrawn="1"/>
          </p:nvSpPr>
          <p:spPr bwMode="auto">
            <a:xfrm rot="5400000">
              <a:off x="5568012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6200341" y="1252538"/>
            <a:ext cx="2695072" cy="4796134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nl-NL" dirty="0"/>
              <a:t>Klik hier om een</a:t>
            </a:r>
            <a:br>
              <a:rPr lang="nl-NL" dirty="0"/>
            </a:br>
            <a:r>
              <a:rPr lang="nl-NL" dirty="0"/>
              <a:t>afbeelding in te voegen</a:t>
            </a:r>
          </a:p>
        </p:txBody>
      </p:sp>
      <p:sp>
        <p:nvSpPr>
          <p:cNvPr id="17" name="Tijdelijke aanduiding voor afbeelding 13"/>
          <p:cNvSpPr>
            <a:spLocks noGrp="1"/>
          </p:cNvSpPr>
          <p:nvPr>
            <p:ph type="pic" sz="quarter" idx="14" hasCustomPrompt="1"/>
          </p:nvPr>
        </p:nvSpPr>
        <p:spPr>
          <a:xfrm>
            <a:off x="9098179" y="1252538"/>
            <a:ext cx="2695072" cy="4796134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nl-NL" dirty="0"/>
              <a:t>Klik hier om een</a:t>
            </a:r>
            <a:br>
              <a:rPr lang="nl-NL" dirty="0"/>
            </a:br>
            <a:r>
              <a:rPr lang="nl-NL" dirty="0"/>
              <a:t>afbeelding in te voegen</a:t>
            </a:r>
          </a:p>
        </p:txBody>
      </p:sp>
      <p:pic>
        <p:nvPicPr>
          <p:cNvPr id="18" name="Afbeelding 1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43" y="6543376"/>
            <a:ext cx="4657501" cy="27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0634E0-D462-431F-F480-29B8E0022A13}"/>
              </a:ext>
            </a:extLst>
          </p:cNvPr>
          <p:cNvSpPr txBox="1"/>
          <p:nvPr userDrawn="1"/>
        </p:nvSpPr>
        <p:spPr>
          <a:xfrm>
            <a:off x="11642269" y="6547371"/>
            <a:ext cx="3429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15A3B607-532D-426E-B62E-9D16D97F3827}" type="slidenum">
              <a:rPr lang="nl-NL" sz="1200" smtClean="0">
                <a:solidFill>
                  <a:schemeClr val="bg1"/>
                </a:solidFill>
              </a:rPr>
              <a:pPr algn="ctr"/>
              <a:t>‹#›</a:t>
            </a:fld>
            <a:endParaRPr lang="nl-NL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982251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Titel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2" y="-1"/>
            <a:ext cx="12198353" cy="6858003"/>
            <a:chOff x="-2" y="-1"/>
            <a:chExt cx="12198353" cy="6858003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4" name="Tijdelijke aanduiding voor grafiek 3"/>
          <p:cNvSpPr>
            <a:spLocks noGrp="1"/>
          </p:cNvSpPr>
          <p:nvPr>
            <p:ph type="chart" sz="quarter" idx="13" hasCustomPrompt="1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nl-NL" dirty="0"/>
              <a:t>Klik hier om een</a:t>
            </a:r>
            <a:br>
              <a:rPr lang="nl-NL" dirty="0"/>
            </a:br>
            <a:r>
              <a:rPr lang="nl-NL" dirty="0"/>
              <a:t>grafiek in te voegen</a:t>
            </a:r>
          </a:p>
        </p:txBody>
      </p:sp>
      <p:pic>
        <p:nvPicPr>
          <p:cNvPr id="15" name="Afbeelding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43" y="6543376"/>
            <a:ext cx="4657501" cy="27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539BC7-737E-4F0B-6B9B-AF10ED7FD4EB}"/>
              </a:ext>
            </a:extLst>
          </p:cNvPr>
          <p:cNvSpPr txBox="1"/>
          <p:nvPr userDrawn="1"/>
        </p:nvSpPr>
        <p:spPr>
          <a:xfrm>
            <a:off x="11642269" y="6547371"/>
            <a:ext cx="3429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15A3B607-532D-426E-B62E-9D16D97F3827}" type="slidenum">
              <a:rPr lang="nl-NL" sz="1200" smtClean="0">
                <a:solidFill>
                  <a:schemeClr val="bg1"/>
                </a:solidFill>
              </a:rPr>
              <a:pPr algn="ctr"/>
              <a:t>‹#›</a:t>
            </a:fld>
            <a:endParaRPr lang="nl-NL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50967"/>
      </p:ext>
    </p:extLst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Titel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2" y="-1"/>
            <a:ext cx="12198353" cy="6858003"/>
            <a:chOff x="-2" y="-1"/>
            <a:chExt cx="12198353" cy="6858003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3" name="Tijdelijke aanduiding voor media 12"/>
          <p:cNvSpPr>
            <a:spLocks noGrp="1"/>
          </p:cNvSpPr>
          <p:nvPr>
            <p:ph type="media" sz="quarter" idx="13" hasCustomPrompt="1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400" baseline="0"/>
            </a:lvl1pPr>
          </a:lstStyle>
          <a:p>
            <a:r>
              <a:rPr lang="nl-NL" dirty="0"/>
              <a:t>Klik hier om een</a:t>
            </a:r>
            <a:br>
              <a:rPr lang="nl-NL" dirty="0"/>
            </a:br>
            <a:r>
              <a:rPr lang="nl-NL" dirty="0"/>
              <a:t>video in te voegen</a:t>
            </a:r>
          </a:p>
        </p:txBody>
      </p:sp>
      <p:pic>
        <p:nvPicPr>
          <p:cNvPr id="15" name="Afbeelding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43" y="6543376"/>
            <a:ext cx="4657501" cy="27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FB0FA9-1A3A-F506-5F97-E1FE189927B8}"/>
              </a:ext>
            </a:extLst>
          </p:cNvPr>
          <p:cNvSpPr txBox="1"/>
          <p:nvPr userDrawn="1"/>
        </p:nvSpPr>
        <p:spPr>
          <a:xfrm>
            <a:off x="11642269" y="6547371"/>
            <a:ext cx="3429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15A3B607-532D-426E-B62E-9D16D97F3827}" type="slidenum">
              <a:rPr lang="nl-NL" sz="1200" smtClean="0">
                <a:solidFill>
                  <a:schemeClr val="bg1"/>
                </a:solidFill>
              </a:rPr>
              <a:pPr algn="ctr"/>
              <a:t>‹#›</a:t>
            </a:fld>
            <a:endParaRPr lang="nl-NL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170741"/>
      </p:ext>
    </p:extLst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/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"/>
            <a:ext cx="12198350" cy="4521939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nl-NL" dirty="0"/>
              <a:t>..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511300" y="1052736"/>
            <a:ext cx="10298858" cy="1656184"/>
          </a:xfrm>
        </p:spPr>
        <p:txBody>
          <a:bodyPr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Titel afsluiting</a:t>
            </a:r>
          </a:p>
        </p:txBody>
      </p:sp>
      <p:pic>
        <p:nvPicPr>
          <p:cNvPr id="21" name="Picture 71" descr="Logo-UniversiteitLeiden-CMYK_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86" y="4926605"/>
            <a:ext cx="26733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Afbeelding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000" y="6543376"/>
            <a:ext cx="2846250" cy="27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CA98F1-7A5B-80F8-F0C9-13323A0741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0" y="4546879"/>
            <a:ext cx="3406752" cy="189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62880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67" y="548640"/>
            <a:ext cx="10746746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967" y="1825625"/>
            <a:ext cx="518429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5415" y="1825625"/>
            <a:ext cx="518429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450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5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04662" y="404664"/>
            <a:ext cx="11389024" cy="43204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nl-NL" dirty="0"/>
              <a:t>Titel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04662" y="1252836"/>
            <a:ext cx="11389023" cy="47958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2"/>
            <a:r>
              <a:rPr lang="nl-NL" dirty="0"/>
              <a:t>Leestekst</a:t>
            </a:r>
          </a:p>
          <a:p>
            <a:pPr lvl="3"/>
            <a:r>
              <a:rPr lang="nl-NL" dirty="0"/>
              <a:t>Kopje donker blauw</a:t>
            </a:r>
          </a:p>
          <a:p>
            <a:pPr lvl="4"/>
            <a:r>
              <a:rPr lang="nl-NL" dirty="0"/>
              <a:t>Kopje licht blauw</a:t>
            </a:r>
          </a:p>
          <a:p>
            <a:pPr lvl="5"/>
            <a:r>
              <a:rPr lang="nl-NL" dirty="0" err="1"/>
              <a:t>Bullet</a:t>
            </a:r>
            <a:endParaRPr lang="nl-NL" dirty="0"/>
          </a:p>
          <a:p>
            <a:pPr lvl="6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sz="1800" dirty="0"/>
              <a:t>Leestekst</a:t>
            </a:r>
          </a:p>
          <a:p>
            <a:pPr lvl="8"/>
            <a:r>
              <a:rPr lang="nl-NL" dirty="0"/>
              <a:t>Kopje donker blauw</a:t>
            </a:r>
          </a:p>
        </p:txBody>
      </p:sp>
      <p:grpSp>
        <p:nvGrpSpPr>
          <p:cNvPr id="11" name="Grid" hidden="1"/>
          <p:cNvGrpSpPr/>
          <p:nvPr userDrawn="1"/>
        </p:nvGrpSpPr>
        <p:grpSpPr>
          <a:xfrm>
            <a:off x="-2" y="-1"/>
            <a:ext cx="12198353" cy="6858003"/>
            <a:chOff x="-2" y="-1"/>
            <a:chExt cx="12198353" cy="6858003"/>
          </a:xfrm>
        </p:grpSpPr>
        <p:sp>
          <p:nvSpPr>
            <p:cNvPr id="7" name="Rechthoek 6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8" name="Rechthoek 7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20" name="Rechthoek 19"/>
          <p:cNvSpPr/>
          <p:nvPr userDrawn="1"/>
        </p:nvSpPr>
        <p:spPr bwMode="auto">
          <a:xfrm>
            <a:off x="0" y="6453336"/>
            <a:ext cx="12198350" cy="40466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</a:pPr>
            <a:endParaRPr kumimoji="0" lang="nl-NL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Minio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80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58" r:id="rId3"/>
    <p:sldLayoutId id="2147483665" r:id="rId4"/>
    <p:sldLayoutId id="2147483661" r:id="rId5"/>
    <p:sldLayoutId id="2147483664" r:id="rId6"/>
    <p:sldLayoutId id="2147483666" r:id="rId7"/>
    <p:sldLayoutId id="2147483662" r:id="rId8"/>
    <p:sldLayoutId id="2147483663" r:id="rId9"/>
    <p:sldLayoutId id="2147483667" r:id="rId10"/>
    <p:sldLayoutId id="2147483668" r:id="rId11"/>
    <p:sldLayoutId id="2147483670" r:id="rId12"/>
    <p:sldLayoutId id="2147483671" r:id="rId13"/>
    <p:sldLayoutId id="2147483672" r:id="rId14"/>
  </p:sldLayoutIdLst>
  <p:hf sldNum="0" hdr="0" ftr="0"/>
  <p:txStyles>
    <p:titleStyle>
      <a:lvl1pPr algn="l" defTabSz="914400" rtl="0" eaLnBrk="1" latinLnBrk="0" hangingPunct="1">
        <a:spcBef>
          <a:spcPct val="0"/>
        </a:spcBef>
        <a:buNone/>
        <a:defRPr sz="4000" b="1" i="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1pPr>
      <a:lvl2pPr marL="361950" indent="-180975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-"/>
        <a:defRPr sz="1600" kern="1200">
          <a:solidFill>
            <a:schemeClr val="bg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bg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1" kern="1200">
          <a:solidFill>
            <a:schemeClr val="bg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1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80975" indent="-180975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6pPr>
      <a:lvl7pPr marL="361950" indent="-180975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-"/>
        <a:defRPr sz="1600" kern="1200">
          <a:solidFill>
            <a:schemeClr val="bg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bg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1" kern="1200" baseline="0">
          <a:solidFill>
            <a:schemeClr val="bg2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w.p.plomp@fsw.leidenuniv.nl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5281/zenodo.7583830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responsible-scholarship.pubpub.org/pub/rsp#n46ml93gftv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dataverse.nl/" TargetMode="Externa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janxdis.2020.102258" TargetMode="External"/><Relationship Id="rId2" Type="http://schemas.openxmlformats.org/officeDocument/2006/relationships/hyperlink" Target="https://doi.org/10.1038/s41598-021-81720-8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pid.org/247/v3/root/Presentation.pdf" TargetMode="Externa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pid.org/247/v3/root/Presentation.pdf" TargetMode="Externa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tekst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4000" dirty="0" err="1"/>
              <a:t>From</a:t>
            </a:r>
            <a:r>
              <a:rPr lang="nl-NL" sz="4000" dirty="0"/>
              <a:t> </a:t>
            </a:r>
            <a:r>
              <a:rPr lang="nl-NL" sz="4000" dirty="0" err="1"/>
              <a:t>raw</a:t>
            </a:r>
            <a:r>
              <a:rPr lang="nl-NL" sz="4000" dirty="0"/>
              <a:t> data </a:t>
            </a:r>
            <a:r>
              <a:rPr lang="nl-NL" sz="4000" dirty="0" err="1"/>
              <a:t>to</a:t>
            </a:r>
            <a:r>
              <a:rPr lang="nl-NL" sz="4000" dirty="0"/>
              <a:t> </a:t>
            </a:r>
            <a:r>
              <a:rPr lang="nl-NL" sz="4000" dirty="0" err="1"/>
              <a:t>publication</a:t>
            </a:r>
            <a:r>
              <a:rPr lang="nl-NL" sz="4000" dirty="0"/>
              <a:t> package</a:t>
            </a:r>
            <a:br>
              <a:rPr lang="nl-NL" sz="4000" dirty="0"/>
            </a:br>
            <a:br>
              <a:rPr lang="nl-NL" sz="4000" dirty="0"/>
            </a:br>
            <a:r>
              <a:rPr lang="nl-NL" sz="4000" dirty="0"/>
              <a:t>Part 2: </a:t>
            </a:r>
            <a:r>
              <a:rPr lang="nl-NL" sz="4000" dirty="0" err="1"/>
              <a:t>Publication</a:t>
            </a:r>
            <a:r>
              <a:rPr lang="nl-NL" sz="4000" dirty="0"/>
              <a:t> packages, a step towards transparency, reproducibility, and reusability of data?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4"/>
          </p:nvPr>
        </p:nvSpPr>
        <p:spPr>
          <a:xfrm>
            <a:off x="1511301" y="3934610"/>
            <a:ext cx="6460082" cy="393700"/>
          </a:xfrm>
        </p:spPr>
        <p:txBody>
          <a:bodyPr>
            <a:noAutofit/>
          </a:bodyPr>
          <a:lstStyle/>
          <a:p>
            <a:r>
              <a:rPr lang="nl-NL" sz="2000" dirty="0"/>
              <a:t>Willemijn Plomp, data steward at Leiden University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z="2000" dirty="0"/>
              <a:t>DCC Spring Training 2026</a:t>
            </a: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2977814846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AACE41-3F4D-34A7-0949-13FC51C35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916" y="1886"/>
            <a:ext cx="8567615" cy="6424119"/>
          </a:xfrm>
          <a:prstGeom prst="rect">
            <a:avLst/>
          </a:prstGeom>
          <a:noFill/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BE59280E-4E62-FC74-EAB4-9032A09A471B}"/>
              </a:ext>
            </a:extLst>
          </p:cNvPr>
          <p:cNvSpPr/>
          <p:nvPr/>
        </p:nvSpPr>
        <p:spPr>
          <a:xfrm rot="20040000">
            <a:off x="1530276" y="4316932"/>
            <a:ext cx="1538718" cy="81109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1372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Overview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horz" wrap="non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nl-NL" sz="2400" dirty="0"/>
              <a:t>1. What is a publication package?</a:t>
            </a:r>
          </a:p>
          <a:p>
            <a:pPr marL="0" indent="0">
              <a:buNone/>
            </a:pPr>
            <a:r>
              <a:rPr lang="nl-NL" sz="2400" dirty="0"/>
              <a:t>2. What is the importance of publication packages?</a:t>
            </a:r>
            <a:endParaRPr lang="en-US" sz="2400" dirty="0"/>
          </a:p>
          <a:p>
            <a:pPr marL="0" indent="0">
              <a:buNone/>
            </a:pPr>
            <a:r>
              <a:rPr lang="nl-NL" dirty="0"/>
              <a:t>3. Where do we store publication packages?</a:t>
            </a:r>
            <a:endParaRPr lang="nl-NL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nl-NL" dirty="0"/>
              <a:t>4</a:t>
            </a:r>
            <a:r>
              <a:rPr lang="nl-NL" sz="2400" dirty="0"/>
              <a:t>. Assignment: Searching and evaluating publication packages: How ‘FAIR’ are they?</a:t>
            </a:r>
          </a:p>
          <a:p>
            <a:pPr marL="0" indent="0">
              <a:buNone/>
            </a:pPr>
            <a:r>
              <a:rPr lang="nl-NL" sz="2400" dirty="0"/>
              <a:t>BREAK</a:t>
            </a:r>
          </a:p>
          <a:p>
            <a:pPr marL="0" indent="0">
              <a:buNone/>
            </a:pPr>
            <a:r>
              <a:rPr lang="nl-NL" dirty="0"/>
              <a:t>5. Privacy and </a:t>
            </a:r>
            <a:r>
              <a:rPr lang="nl-NL" dirty="0" err="1"/>
              <a:t>sensitive</a:t>
            </a:r>
            <a:r>
              <a:rPr lang="nl-NL" dirty="0"/>
              <a:t> data</a:t>
            </a:r>
            <a:endParaRPr lang="nl-NL" sz="2400" dirty="0"/>
          </a:p>
          <a:p>
            <a:pPr marL="0" indent="0">
              <a:buNone/>
            </a:pPr>
            <a:r>
              <a:rPr lang="nl-NL" dirty="0"/>
              <a:t>6. </a:t>
            </a:r>
            <a:r>
              <a:rPr lang="nl-NL" sz="2400" dirty="0" err="1"/>
              <a:t>Difficulties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1662105023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 me introduce myself:</a:t>
            </a:r>
            <a:endParaRPr lang="nl-NL" dirty="0"/>
          </a:p>
        </p:txBody>
      </p:sp>
      <p:sp>
        <p:nvSpPr>
          <p:cNvPr id="8" name="Tijdelijke aanduiding voor verticale tekst 7"/>
          <p:cNvSpPr>
            <a:spLocks noGrp="1"/>
          </p:cNvSpPr>
          <p:nvPr>
            <p:ph type="body" orient="vert"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2800" dirty="0"/>
              <a:t>Willemijn </a:t>
            </a:r>
            <a:r>
              <a:rPr lang="en-US" sz="2800" dirty="0" err="1"/>
              <a:t>Plomp</a:t>
            </a:r>
            <a:endParaRPr lang="en-US" sz="2800" dirty="0"/>
          </a:p>
          <a:p>
            <a:r>
              <a:rPr lang="en-US" sz="2800" dirty="0"/>
              <a:t>Data steward for Psychology and Educational Studies</a:t>
            </a:r>
          </a:p>
          <a:p>
            <a:r>
              <a:rPr lang="en-US" sz="2800" dirty="0"/>
              <a:t>Leiden University</a:t>
            </a:r>
          </a:p>
          <a:p>
            <a:r>
              <a:rPr lang="en-US" sz="2800" dirty="0">
                <a:ea typeface="+mn-lt"/>
                <a:cs typeface="+mn-lt"/>
                <a:hlinkClick r:id="rId2"/>
              </a:rPr>
              <a:t>w.p.plomp@fsw.leidenuniv.nl</a:t>
            </a:r>
            <a:r>
              <a:rPr lang="en-US" sz="2800" dirty="0">
                <a:ea typeface="+mn-lt"/>
                <a:cs typeface="+mn-lt"/>
              </a:rPr>
              <a:t> </a:t>
            </a:r>
            <a:endParaRPr lang="en-US" sz="2800" dirty="0"/>
          </a:p>
        </p:txBody>
      </p:sp>
      <p:pic>
        <p:nvPicPr>
          <p:cNvPr id="2" name="Picture 1" descr="A person with blonde hair and a scarf&#10;&#10;Description automatically generated">
            <a:extLst>
              <a:ext uri="{FF2B5EF4-FFF2-40B4-BE49-F238E27FC236}">
                <a16:creationId xmlns:a16="http://schemas.microsoft.com/office/drawing/2014/main" id="{29154F64-9EB8-5C45-90ED-47C3DE5B1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431" y="2594907"/>
            <a:ext cx="2777950" cy="347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280595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D663-06D8-07AE-ED49-0BC8768F3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310" y="78914"/>
            <a:ext cx="10746746" cy="1132258"/>
          </a:xfrm>
        </p:spPr>
        <p:txBody>
          <a:bodyPr/>
          <a:lstStyle/>
          <a:p>
            <a:r>
              <a:rPr lang="en-US" dirty="0">
                <a:ea typeface="Calibri"/>
                <a:cs typeface="Times New Roman"/>
              </a:rPr>
              <a:t>1. What is a Publication Package?</a:t>
            </a:r>
            <a:endParaRPr lang="nl-NL" dirty="0"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8C363-4A9D-B9FA-675D-BC1412F4F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1376" y="1418530"/>
            <a:ext cx="4630007" cy="47584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+mj-lt"/>
                <a:ea typeface="Calibri"/>
                <a:cs typeface="Times New Roman"/>
              </a:rPr>
              <a:t>All the materials necessary to </a:t>
            </a:r>
            <a:br>
              <a:rPr lang="en-US" sz="2800" b="1" dirty="0">
                <a:latin typeface="+mj-lt"/>
                <a:ea typeface="Calibri"/>
                <a:cs typeface="Times New Roman"/>
              </a:rPr>
            </a:br>
            <a:r>
              <a:rPr lang="en-US" sz="2800" b="1" i="1" dirty="0">
                <a:solidFill>
                  <a:srgbClr val="FF0000"/>
                </a:solidFill>
                <a:latin typeface="+mj-lt"/>
                <a:ea typeface="Calibri"/>
                <a:cs typeface="Times New Roman"/>
              </a:rPr>
              <a:t>replicate</a:t>
            </a:r>
            <a:r>
              <a:rPr lang="en-US" sz="2800" b="1" dirty="0">
                <a:solidFill>
                  <a:srgbClr val="FF0000"/>
                </a:solidFill>
                <a:latin typeface="+mj-lt"/>
                <a:ea typeface="Calibri"/>
                <a:cs typeface="Times New Roman"/>
              </a:rPr>
              <a:t> </a:t>
            </a:r>
            <a:r>
              <a:rPr lang="en-US" sz="2800" b="1" dirty="0">
                <a:latin typeface="+mj-lt"/>
                <a:ea typeface="Calibri"/>
                <a:cs typeface="Times New Roman"/>
              </a:rPr>
              <a:t>the study, </a:t>
            </a:r>
            <a:r>
              <a:rPr lang="en-US" sz="2800" b="1" i="1" dirty="0">
                <a:solidFill>
                  <a:srgbClr val="FF0000"/>
                </a:solidFill>
                <a:latin typeface="+mj-lt"/>
                <a:ea typeface="Calibri"/>
                <a:cs typeface="Times New Roman"/>
              </a:rPr>
              <a:t>reproduce</a:t>
            </a:r>
            <a:r>
              <a:rPr lang="en-US" sz="2800" b="1" dirty="0">
                <a:solidFill>
                  <a:srgbClr val="FF0000"/>
                </a:solidFill>
                <a:latin typeface="+mj-lt"/>
                <a:ea typeface="Calibri"/>
                <a:cs typeface="Times New Roman"/>
              </a:rPr>
              <a:t> </a:t>
            </a:r>
            <a:r>
              <a:rPr lang="en-US" sz="2800" b="1" dirty="0">
                <a:latin typeface="+mj-lt"/>
                <a:ea typeface="Calibri"/>
                <a:cs typeface="Times New Roman"/>
              </a:rPr>
              <a:t>the results and </a:t>
            </a:r>
            <a:r>
              <a:rPr lang="en-US" sz="2800" b="1" i="1" dirty="0">
                <a:solidFill>
                  <a:srgbClr val="FF0000"/>
                </a:solidFill>
                <a:latin typeface="+mj-lt"/>
                <a:ea typeface="Calibri"/>
                <a:cs typeface="Times New Roman"/>
              </a:rPr>
              <a:t>reuse</a:t>
            </a:r>
            <a:r>
              <a:rPr lang="en-US" sz="2800" b="1" dirty="0">
                <a:solidFill>
                  <a:srgbClr val="FF0000"/>
                </a:solidFill>
                <a:latin typeface="+mj-lt"/>
                <a:ea typeface="Calibri"/>
                <a:cs typeface="Times New Roman"/>
              </a:rPr>
              <a:t> </a:t>
            </a:r>
            <a:r>
              <a:rPr lang="en-US" sz="2800" b="1" dirty="0">
                <a:latin typeface="+mj-lt"/>
                <a:ea typeface="Calibri"/>
                <a:cs typeface="Times New Roman"/>
              </a:rPr>
              <a:t>the data.</a:t>
            </a:r>
            <a:endParaRPr lang="nl-NL" sz="2800" b="1" dirty="0">
              <a:latin typeface="+mj-lt"/>
              <a:ea typeface="Calibri"/>
              <a:cs typeface="Times New Roman"/>
            </a:endParaRPr>
          </a:p>
          <a:p>
            <a:pPr marL="0" indent="0">
              <a:buNone/>
            </a:pPr>
            <a:endParaRPr lang="nl-NL" sz="2400" dirty="0">
              <a:latin typeface="+mj-lt"/>
            </a:endParaRPr>
          </a:p>
          <a:p>
            <a:pPr marL="0" indent="0">
              <a:buNone/>
            </a:pPr>
            <a:endParaRPr lang="nl-NL" sz="2400" dirty="0">
              <a:latin typeface="+mj-lt"/>
              <a:ea typeface="Calibri"/>
              <a:cs typeface="Calibri"/>
            </a:endParaRPr>
          </a:p>
          <a:p>
            <a:pPr marL="0" indent="0">
              <a:buNone/>
            </a:pPr>
            <a:r>
              <a:rPr lang="nl-NL" sz="2400" dirty="0">
                <a:latin typeface="+mj-lt"/>
                <a:ea typeface="Calibri"/>
                <a:cs typeface="Calibri"/>
              </a:rPr>
              <a:t>(</a:t>
            </a:r>
            <a:r>
              <a:rPr lang="nl-NL" sz="2400" dirty="0" err="1">
                <a:latin typeface="+mj-lt"/>
                <a:ea typeface="Calibri"/>
                <a:cs typeface="Calibri"/>
              </a:rPr>
              <a:t>Researchers</a:t>
            </a:r>
            <a:r>
              <a:rPr lang="nl-NL" sz="2400" dirty="0">
                <a:latin typeface="+mj-lt"/>
                <a:ea typeface="Calibri"/>
                <a:cs typeface="Calibri"/>
              </a:rPr>
              <a:t> </a:t>
            </a:r>
            <a:r>
              <a:rPr lang="nl-NL" sz="2400" dirty="0" err="1">
                <a:latin typeface="+mj-lt"/>
                <a:ea typeface="Calibri"/>
                <a:cs typeface="Calibri"/>
              </a:rPr>
              <a:t>can</a:t>
            </a:r>
            <a:r>
              <a:rPr lang="nl-NL" sz="2400" dirty="0">
                <a:latin typeface="+mj-lt"/>
                <a:ea typeface="Calibri"/>
                <a:cs typeface="Calibri"/>
              </a:rPr>
              <a:t> </a:t>
            </a:r>
            <a:r>
              <a:rPr lang="nl-NL" sz="2400" dirty="0" err="1">
                <a:latin typeface="+mj-lt"/>
                <a:ea typeface="Calibri"/>
                <a:cs typeface="Calibri"/>
              </a:rPr>
              <a:t>add</a:t>
            </a:r>
            <a:r>
              <a:rPr lang="nl-NL" sz="2400" dirty="0">
                <a:latin typeface="+mj-lt"/>
                <a:ea typeface="Calibri"/>
                <a:cs typeface="Calibri"/>
              </a:rPr>
              <a:t> a link </a:t>
            </a:r>
            <a:r>
              <a:rPr lang="nl-NL" sz="2400" dirty="0" err="1">
                <a:latin typeface="+mj-lt"/>
                <a:ea typeface="Calibri"/>
                <a:cs typeface="Calibri"/>
              </a:rPr>
              <a:t>to</a:t>
            </a:r>
            <a:r>
              <a:rPr lang="nl-NL" sz="2400" dirty="0">
                <a:latin typeface="+mj-lt"/>
                <a:ea typeface="Calibri"/>
                <a:cs typeface="Calibri"/>
              </a:rPr>
              <a:t> </a:t>
            </a:r>
            <a:r>
              <a:rPr lang="nl-NL" sz="2400" dirty="0" err="1">
                <a:latin typeface="+mj-lt"/>
                <a:ea typeface="Calibri"/>
                <a:cs typeface="Calibri"/>
              </a:rPr>
              <a:t>their</a:t>
            </a:r>
            <a:r>
              <a:rPr lang="nl-NL" sz="2400" dirty="0">
                <a:latin typeface="+mj-lt"/>
                <a:ea typeface="Calibri"/>
                <a:cs typeface="Calibri"/>
              </a:rPr>
              <a:t> </a:t>
            </a:r>
            <a:r>
              <a:rPr lang="nl-NL" sz="2400" dirty="0" err="1">
                <a:latin typeface="+mj-lt"/>
                <a:ea typeface="Calibri"/>
                <a:cs typeface="Calibri"/>
              </a:rPr>
              <a:t>publication</a:t>
            </a:r>
            <a:r>
              <a:rPr lang="nl-NL" sz="2400" dirty="0">
                <a:latin typeface="+mj-lt"/>
                <a:ea typeface="Calibri"/>
                <a:cs typeface="Calibri"/>
              </a:rPr>
              <a:t> package in </a:t>
            </a:r>
            <a:r>
              <a:rPr lang="nl-NL" sz="2400" dirty="0" err="1">
                <a:latin typeface="+mj-lt"/>
                <a:ea typeface="Calibri"/>
                <a:cs typeface="Calibri"/>
              </a:rPr>
              <a:t>their</a:t>
            </a:r>
            <a:r>
              <a:rPr lang="nl-NL" sz="2400" dirty="0">
                <a:latin typeface="+mj-lt"/>
                <a:ea typeface="Calibri"/>
                <a:cs typeface="Calibri"/>
              </a:rPr>
              <a:t> paper.)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C8CD0-19DC-4BC0-789B-A3B7CB66D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8624" y="1413395"/>
            <a:ext cx="6047081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latin typeface="+mj-lt"/>
                <a:ea typeface="Calibri"/>
                <a:cs typeface="Times New Roman"/>
              </a:rPr>
              <a:t>1) Paper or manuscript</a:t>
            </a:r>
            <a:endParaRPr lang="nl-NL" sz="2400" dirty="0">
              <a:latin typeface="+mj-lt"/>
              <a:ea typeface="Calibri"/>
              <a:cs typeface="Times New Roman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latin typeface="+mj-lt"/>
                <a:ea typeface="Calibri"/>
                <a:cs typeface="Times New Roman"/>
              </a:rPr>
              <a:t>2) Materials, instructions, procedures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latin typeface="+mj-lt"/>
                <a:ea typeface="Calibri"/>
                <a:cs typeface="Times New Roman"/>
              </a:rPr>
              <a:t>3) Raw data</a:t>
            </a:r>
            <a:endParaRPr lang="nl-NL" sz="2400" dirty="0">
              <a:latin typeface="+mj-lt"/>
              <a:ea typeface="Calibri"/>
              <a:cs typeface="Times New Roman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latin typeface="+mj-lt"/>
                <a:ea typeface="Calibri"/>
                <a:cs typeface="Times New Roman"/>
              </a:rPr>
              <a:t>4) Computer code for data analyses</a:t>
            </a:r>
            <a:endParaRPr lang="nl-NL" sz="2400" dirty="0">
              <a:latin typeface="+mj-lt"/>
              <a:ea typeface="Calibri"/>
              <a:cs typeface="Times New Roman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it-IT" sz="2400" dirty="0">
                <a:latin typeface="+mj-lt"/>
                <a:ea typeface="Calibri"/>
                <a:cs typeface="Times New Roman"/>
              </a:rPr>
              <a:t>5) </a:t>
            </a:r>
            <a:r>
              <a:rPr lang="it-IT" sz="2400" dirty="0" err="1">
                <a:latin typeface="+mj-lt"/>
                <a:ea typeface="Calibri"/>
                <a:cs typeface="Times New Roman"/>
              </a:rPr>
              <a:t>Processed</a:t>
            </a:r>
            <a:r>
              <a:rPr lang="it-IT" sz="2400" dirty="0">
                <a:latin typeface="+mj-lt"/>
                <a:ea typeface="Calibri"/>
                <a:cs typeface="Times New Roman"/>
              </a:rPr>
              <a:t> data</a:t>
            </a:r>
            <a:endParaRPr lang="nl-NL" sz="2400" dirty="0">
              <a:latin typeface="+mj-lt"/>
              <a:ea typeface="Calibri"/>
              <a:cs typeface="Times New Roman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it-IT" sz="2400" dirty="0">
                <a:latin typeface="+mj-lt"/>
                <a:ea typeface="Calibri"/>
                <a:cs typeface="Times New Roman"/>
              </a:rPr>
              <a:t>6) Data management plan</a:t>
            </a:r>
            <a:endParaRPr lang="nl-NL" sz="2400" dirty="0">
              <a:latin typeface="+mj-lt"/>
              <a:ea typeface="Calibri"/>
              <a:cs typeface="Times New Roman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it-IT" sz="2400" dirty="0">
                <a:latin typeface="+mj-lt"/>
                <a:ea typeface="Calibri"/>
                <a:cs typeface="Times New Roman"/>
              </a:rPr>
              <a:t>7) README file</a:t>
            </a:r>
            <a:endParaRPr lang="nl-NL" sz="2400" dirty="0">
              <a:latin typeface="+mj-lt"/>
              <a:ea typeface="Calibri"/>
              <a:cs typeface="Times New Roman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it-IT" sz="2400" dirty="0">
                <a:latin typeface="+mj-lt"/>
                <a:ea typeface="Calibri"/>
                <a:cs typeface="Times New Roman"/>
              </a:rPr>
              <a:t>8) </a:t>
            </a:r>
            <a:r>
              <a:rPr lang="it-IT" sz="2400" dirty="0" err="1">
                <a:latin typeface="+mj-lt"/>
                <a:ea typeface="Calibri"/>
                <a:cs typeface="Times New Roman"/>
              </a:rPr>
              <a:t>Approved</a:t>
            </a:r>
            <a:r>
              <a:rPr lang="it-IT" sz="2400" dirty="0">
                <a:latin typeface="+mj-lt"/>
                <a:ea typeface="Calibri"/>
                <a:cs typeface="Times New Roman"/>
              </a:rPr>
              <a:t> ethics </a:t>
            </a:r>
            <a:r>
              <a:rPr lang="it-IT" sz="2400" dirty="0" err="1">
                <a:latin typeface="+mj-lt"/>
                <a:ea typeface="Calibri"/>
                <a:cs typeface="Times New Roman"/>
              </a:rPr>
              <a:t>protocol</a:t>
            </a:r>
            <a:endParaRPr lang="nl-NL" sz="2400" dirty="0">
              <a:latin typeface="+mj-lt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nl-NL" sz="2400" dirty="0">
                <a:latin typeface="+mj-lt"/>
                <a:ea typeface="Calibri"/>
                <a:cs typeface="Calibri"/>
              </a:rPr>
              <a:t>9) </a:t>
            </a:r>
            <a:r>
              <a:rPr lang="nl-NL" sz="2400" dirty="0" err="1">
                <a:latin typeface="+mj-lt"/>
                <a:ea typeface="Calibri"/>
                <a:cs typeface="Calibri"/>
              </a:rPr>
              <a:t>Preregistration</a:t>
            </a:r>
            <a:endParaRPr lang="nl-NL" sz="2400" dirty="0">
              <a:latin typeface="+mj-l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6742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pie chart&#10;&#10;AI-generated content may be incorrect.">
            <a:extLst>
              <a:ext uri="{FF2B5EF4-FFF2-40B4-BE49-F238E27FC236}">
                <a16:creationId xmlns:a16="http://schemas.microsoft.com/office/drawing/2014/main" id="{F8740959-4075-B42E-059B-0BE469D02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031" y="68263"/>
            <a:ext cx="6316662" cy="63166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62980863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8F99B-B970-2DDE-0C4D-BD4A89FA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A855297-B01F-BA5B-B928-DAA71DD85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Times New Roman"/>
              </a:rPr>
              <a:t>1. What is a publication package?</a:t>
            </a:r>
            <a:endParaRPr lang="nl-NL" dirty="0"/>
          </a:p>
        </p:txBody>
      </p:sp>
      <p:sp>
        <p:nvSpPr>
          <p:cNvPr id="7" name="Tijdelijke aanduiding voor verticale tekst 6">
            <a:extLst>
              <a:ext uri="{FF2B5EF4-FFF2-40B4-BE49-F238E27FC236}">
                <a16:creationId xmlns:a16="http://schemas.microsoft.com/office/drawing/2014/main" id="{4842CD55-5737-66DA-8136-B2FA82C3E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04663" y="1252836"/>
            <a:ext cx="10707893" cy="4795836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latin typeface="Georgia"/>
                <a:ea typeface="Calibri"/>
                <a:cs typeface="Helvetica"/>
              </a:rPr>
              <a:t>Based on:</a:t>
            </a:r>
            <a:br>
              <a:rPr lang="en-US" sz="2400" dirty="0">
                <a:latin typeface="Georgia"/>
                <a:ea typeface="Calibri"/>
                <a:cs typeface="Helvetica"/>
              </a:rPr>
            </a:br>
            <a:endParaRPr lang="en-US" sz="2400" i="1" dirty="0">
              <a:solidFill>
                <a:srgbClr val="000000"/>
              </a:solidFill>
              <a:latin typeface="Georgia"/>
              <a:ea typeface="Calibri"/>
              <a:cs typeface="Helvetica"/>
            </a:endParaRPr>
          </a:p>
          <a:p>
            <a:pPr>
              <a:buNone/>
            </a:pPr>
            <a:r>
              <a:rPr lang="en-US" sz="2400" i="1" dirty="0">
                <a:solidFill>
                  <a:srgbClr val="000000"/>
                </a:solidFill>
                <a:latin typeface="Georgia"/>
                <a:ea typeface="Calibri"/>
                <a:cs typeface="Helvetica"/>
              </a:rPr>
              <a:t>Guideline for the archiving of academic research for Faculties of </a:t>
            </a:r>
            <a:r>
              <a:rPr lang="en-US" sz="2400" i="1" dirty="0" err="1">
                <a:solidFill>
                  <a:srgbClr val="000000"/>
                </a:solidFill>
                <a:latin typeface="Georgia"/>
                <a:ea typeface="Calibri"/>
                <a:cs typeface="Helvetica"/>
              </a:rPr>
              <a:t>Behavioural</a:t>
            </a:r>
            <a:r>
              <a:rPr lang="en-US" sz="2400" i="1" dirty="0">
                <a:solidFill>
                  <a:srgbClr val="000000"/>
                </a:solidFill>
                <a:latin typeface="Georgia"/>
                <a:ea typeface="Calibri"/>
                <a:cs typeface="Helvetica"/>
              </a:rPr>
              <a:t> and Social Sciences in the Netherlands</a:t>
            </a:r>
            <a:r>
              <a:rPr lang="en-US" sz="2400" dirty="0">
                <a:solidFill>
                  <a:srgbClr val="000000"/>
                </a:solidFill>
                <a:latin typeface="Georgia"/>
                <a:ea typeface="Calibri"/>
                <a:cs typeface="Helvetica"/>
              </a:rPr>
              <a:t> (2022)   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  <a:hlinkClick r:id="rId2"/>
              </a:rPr>
              <a:t>https://doi.org/10.5281/zenodo.7583830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US" sz="2400" dirty="0">
              <a:ea typeface="+mn-lt"/>
              <a:cs typeface="+mn-lt"/>
            </a:endParaRPr>
          </a:p>
          <a:p>
            <a:pPr>
              <a:lnSpc>
                <a:spcPct val="70000"/>
              </a:lnSpc>
              <a:buFont typeface="Calibri" panose="020B0604020202020204" pitchFamily="34" charset="0"/>
              <a:buChar char="-"/>
            </a:pPr>
            <a:r>
              <a:rPr lang="en-US" sz="2400" dirty="0">
                <a:solidFill>
                  <a:srgbClr val="000000"/>
                </a:solidFill>
                <a:latin typeface="Georgia"/>
                <a:ea typeface="Calibri"/>
                <a:cs typeface="Times New Roman"/>
              </a:rPr>
              <a:t>DSW (Deans of Social Sciences in the Netherlands)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"The principles of honesty, scrupulousness, transparency, independence, and</a:t>
            </a: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responsibility form the basis of research integrity"</a:t>
            </a:r>
            <a:endParaRPr lang="en-US" dirty="0"/>
          </a:p>
          <a:p>
            <a:pPr marL="0" indent="0">
              <a:buNone/>
            </a:pPr>
            <a:endParaRPr lang="en-US" sz="2400" b="1" dirty="0">
              <a:highlight>
                <a:srgbClr val="FFFF00"/>
              </a:highlight>
              <a:ea typeface="Calibri"/>
              <a:cs typeface="Times New Roman"/>
            </a:endParaRPr>
          </a:p>
          <a:p>
            <a:pPr>
              <a:buFont typeface="Calibri" panose="020B0604020202020204" pitchFamily="34" charset="0"/>
              <a:buChar char="-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31867179"/>
      </p:ext>
    </p:extLst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21F8C-C1E3-557E-8C45-C9A8F7EA1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D2542F8-A643-D1EE-479F-4688E7B0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Times New Roman"/>
              </a:rPr>
              <a:t>1. What is a publication package?</a:t>
            </a:r>
            <a:endParaRPr lang="nl-NL" dirty="0"/>
          </a:p>
        </p:txBody>
      </p:sp>
      <p:sp>
        <p:nvSpPr>
          <p:cNvPr id="7" name="Tijdelijke aanduiding voor verticale tekst 6">
            <a:extLst>
              <a:ext uri="{FF2B5EF4-FFF2-40B4-BE49-F238E27FC236}">
                <a16:creationId xmlns:a16="http://schemas.microsoft.com/office/drawing/2014/main" id="{FDDF06E2-8847-97A1-6293-E8517810A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04663" y="1252836"/>
            <a:ext cx="10735072" cy="4795836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200" b="1" dirty="0">
                <a:cs typeface="Times New Roman"/>
              </a:rPr>
              <a:t>Tips:</a:t>
            </a:r>
          </a:p>
          <a:p>
            <a:pPr marL="0" indent="0">
              <a:buNone/>
            </a:pPr>
            <a:endParaRPr lang="en-US" sz="3200" b="1" dirty="0">
              <a:cs typeface="Times New Roman"/>
            </a:endParaRPr>
          </a:p>
          <a:p>
            <a:r>
              <a:rPr lang="en-US" sz="3200" dirty="0">
                <a:cs typeface="Times New Roman"/>
              </a:rPr>
              <a:t>Start making your publication package </a:t>
            </a:r>
            <a:r>
              <a:rPr lang="en-US" sz="3200" i="1" dirty="0">
                <a:cs typeface="Times New Roman"/>
              </a:rPr>
              <a:t>during</a:t>
            </a:r>
            <a:r>
              <a:rPr lang="en-US" sz="3200" dirty="0">
                <a:cs typeface="Times New Roman"/>
              </a:rPr>
              <a:t> your project, not afterwards.</a:t>
            </a:r>
          </a:p>
          <a:p>
            <a:pPr marL="0" indent="0">
              <a:buNone/>
            </a:pPr>
            <a:endParaRPr lang="en-US" sz="3200" dirty="0">
              <a:cs typeface="Times New Roman"/>
            </a:endParaRPr>
          </a:p>
          <a:p>
            <a:r>
              <a:rPr lang="en-US" sz="3200" dirty="0">
                <a:cs typeface="Times New Roman"/>
              </a:rPr>
              <a:t>Ask someone in your team to check your package before sharing it.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45674536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04662" y="692696"/>
            <a:ext cx="11389024" cy="432048"/>
          </a:xfrm>
        </p:spPr>
        <p:txBody>
          <a:bodyPr/>
          <a:lstStyle/>
          <a:p>
            <a:r>
              <a:rPr lang="nl-NL" sz="4000" dirty="0"/>
              <a:t>2. What is the importance of</a:t>
            </a:r>
            <a:br>
              <a:rPr lang="nl-NL" sz="4000" dirty="0"/>
            </a:br>
            <a:r>
              <a:rPr lang="nl-NL" sz="4000" dirty="0"/>
              <a:t>publication packages?</a:t>
            </a:r>
            <a:endParaRPr lang="nl-NL" dirty="0"/>
          </a:p>
        </p:txBody>
      </p:sp>
      <p:pic>
        <p:nvPicPr>
          <p:cNvPr id="3" name="Graphic 2" descr="Question Mark with solid fill">
            <a:extLst>
              <a:ext uri="{FF2B5EF4-FFF2-40B4-BE49-F238E27FC236}">
                <a16:creationId xmlns:a16="http://schemas.microsoft.com/office/drawing/2014/main" id="{379E8273-B34B-1C80-286B-1F2C27387B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59015" y="2060848"/>
            <a:ext cx="288032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6793"/>
      </p:ext>
    </p:extLst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3CECB-69A1-3B46-FA45-765FD00BB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verticale tekst 6">
            <a:extLst>
              <a:ext uri="{FF2B5EF4-FFF2-40B4-BE49-F238E27FC236}">
                <a16:creationId xmlns:a16="http://schemas.microsoft.com/office/drawing/2014/main" id="{D4DEEC60-D7C5-1DFA-38CD-EB70858AD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04662" y="2060848"/>
            <a:ext cx="10159009" cy="4795836"/>
          </a:xfrm>
        </p:spPr>
        <p:txBody>
          <a:bodyPr vert="horz" lIns="0" tIns="0" rIns="0" bIns="0" rtlCol="0" anchor="t">
            <a:normAutofit/>
          </a:bodyPr>
          <a:lstStyle/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j-lt"/>
                <a:cs typeface="Segoe UI"/>
              </a:rPr>
              <a:t>Transparency &amp; integrity (code of conduct)</a:t>
            </a:r>
          </a:p>
          <a:p>
            <a:pPr marL="647700" lvl="6" indent="-285750"/>
            <a:r>
              <a:rPr lang="en-US" sz="2200" b="0" dirty="0">
                <a:latin typeface="+mj-lt"/>
                <a:cs typeface="Segoe UI"/>
              </a:rPr>
              <a:t>Allows others to see your work and reproduce your results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endParaRPr lang="en-US" sz="2400" b="0" dirty="0">
              <a:latin typeface="+mj-lt"/>
              <a:cs typeface="Segoe UI"/>
            </a:endParaRP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j-lt"/>
                <a:cs typeface="Segoe UI"/>
              </a:rPr>
              <a:t>Reusability of data and other materials</a:t>
            </a:r>
          </a:p>
          <a:p>
            <a:pPr marL="647700" lvl="6" indent="-285750"/>
            <a:r>
              <a:rPr lang="en-US" sz="2000" dirty="0">
                <a:cs typeface="Segoe UI"/>
              </a:rPr>
              <a:t>Allows combining datasets for more robust research</a:t>
            </a:r>
          </a:p>
          <a:p>
            <a:pPr marL="647700" lvl="6" indent="-285750"/>
            <a:r>
              <a:rPr lang="en-US" sz="2000" dirty="0">
                <a:cs typeface="Segoe UI"/>
              </a:rPr>
              <a:t>Prevents overburdening small, vulnerable target populations</a:t>
            </a:r>
          </a:p>
          <a:p>
            <a:pPr marL="647700" lvl="6" indent="-285750"/>
            <a:r>
              <a:rPr lang="en-US" sz="2000" dirty="0">
                <a:cs typeface="Segoe UI"/>
              </a:rPr>
              <a:t>Prevents researchers from “reinventing the wheel” when designing studies</a:t>
            </a:r>
            <a:endParaRPr lang="en-US" sz="2200" b="0" dirty="0">
              <a:latin typeface="+mj-lt"/>
              <a:cs typeface="Segoe UI"/>
            </a:endParaRPr>
          </a:p>
          <a:p>
            <a:pPr marL="285750" lvl="3" indent="-285750">
              <a:buFont typeface="Arial" panose="020B0604020202020204" pitchFamily="34" charset="0"/>
              <a:buChar char="•"/>
            </a:pPr>
            <a:endParaRPr lang="en-US" sz="2400" b="0" dirty="0">
              <a:latin typeface="+mj-lt"/>
              <a:cs typeface="Segoe UI"/>
            </a:endParaRP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j-lt"/>
                <a:cs typeface="Segoe UI"/>
              </a:rPr>
              <a:t>Prevention of data loss</a:t>
            </a:r>
            <a:endParaRPr lang="en-US" sz="2400" b="0" dirty="0">
              <a:cs typeface="Segoe UI"/>
            </a:endParaRPr>
          </a:p>
          <a:p>
            <a:pPr lvl="1"/>
            <a:endParaRPr lang="nl-NL" dirty="0"/>
          </a:p>
          <a:p>
            <a:endParaRPr lang="nl-NL" dirty="0"/>
          </a:p>
        </p:txBody>
      </p:sp>
      <p:sp>
        <p:nvSpPr>
          <p:cNvPr id="9" name="Titel 5">
            <a:extLst>
              <a:ext uri="{FF2B5EF4-FFF2-40B4-BE49-F238E27FC236}">
                <a16:creationId xmlns:a16="http://schemas.microsoft.com/office/drawing/2014/main" id="{0B636D07-D93D-4E1C-82DD-30E2657CA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62" y="692696"/>
            <a:ext cx="11389024" cy="432048"/>
          </a:xfrm>
        </p:spPr>
        <p:txBody>
          <a:bodyPr/>
          <a:lstStyle/>
          <a:p>
            <a:r>
              <a:rPr lang="nl-NL" sz="4000" dirty="0"/>
              <a:t>2. What is the importance of</a:t>
            </a:r>
            <a:br>
              <a:rPr lang="nl-NL" sz="4000" dirty="0"/>
            </a:br>
            <a:r>
              <a:rPr lang="nl-NL" sz="4000" dirty="0"/>
              <a:t>publication packages?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16453483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CAA25-9C02-21BC-032D-8E898B5A2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verticale tekst 6">
            <a:extLst>
              <a:ext uri="{FF2B5EF4-FFF2-40B4-BE49-F238E27FC236}">
                <a16:creationId xmlns:a16="http://schemas.microsoft.com/office/drawing/2014/main" id="{5C317FB9-6EBF-076E-C66D-BE94AD3CF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04662" y="2017540"/>
            <a:ext cx="10159009" cy="4795836"/>
          </a:xfrm>
        </p:spPr>
        <p:txBody>
          <a:bodyPr vert="horz" lIns="0" tIns="0" rIns="0" bIns="0" rtlCol="0" anchor="t">
            <a:normAutofit/>
          </a:bodyPr>
          <a:lstStyle/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j-lt"/>
                <a:cs typeface="Segoe UI"/>
              </a:rPr>
              <a:t>Combining datasets for more robust research</a:t>
            </a:r>
          </a:p>
          <a:p>
            <a:pPr marL="285750" lvl="3" indent="-285750">
              <a:buFont typeface="Arial,Sans-Serif" panose="020B0604020202020204" pitchFamily="34" charset="0"/>
              <a:buChar char="•"/>
            </a:pPr>
            <a:endParaRPr lang="en-US" sz="2400" b="0" dirty="0">
              <a:solidFill>
                <a:srgbClr val="000000"/>
              </a:solidFill>
              <a:latin typeface="+mj-lt"/>
              <a:cs typeface="Segoe UI"/>
            </a:endParaRPr>
          </a:p>
          <a:p>
            <a:pPr marL="285750" lvl="3" indent="-285750">
              <a:buFont typeface="Arial,Sans-Serif" panose="020B0604020202020204" pitchFamily="34" charset="0"/>
              <a:buChar char="•"/>
            </a:pPr>
            <a:r>
              <a:rPr lang="en-US" sz="2400" b="0" dirty="0">
                <a:latin typeface="+mj-lt"/>
                <a:cs typeface="Segoe UI"/>
              </a:rPr>
              <a:t>Replicating research</a:t>
            </a:r>
          </a:p>
          <a:p>
            <a:pPr marL="647700" lvl="6" indent="-285750">
              <a:buFont typeface="Arial,Sans-Serif" panose="020B0604020202020204" pitchFamily="34" charset="0"/>
              <a:buChar char="•"/>
            </a:pPr>
            <a:r>
              <a:rPr lang="en-US" sz="2200" b="0" dirty="0">
                <a:solidFill>
                  <a:srgbClr val="002060"/>
                </a:solidFill>
                <a:latin typeface="+mj-lt"/>
                <a:cs typeface="Segoe UI"/>
              </a:rPr>
              <a:t>Exploring the “replication crisis”</a:t>
            </a:r>
          </a:p>
          <a:p>
            <a:pPr marL="647700" lvl="6" indent="-285750">
              <a:buFont typeface="Arial,Sans-Serif" panose="020B0604020202020204" pitchFamily="34" charset="0"/>
              <a:buChar char="•"/>
            </a:pPr>
            <a:r>
              <a:rPr lang="en-US" sz="2200" b="0" dirty="0">
                <a:solidFill>
                  <a:srgbClr val="002060"/>
                </a:solidFill>
                <a:latin typeface="+mj-lt"/>
                <a:cs typeface="Segoe UI"/>
              </a:rPr>
              <a:t>Do we find the same results in different time periods, in different locations, etc.? </a:t>
            </a:r>
          </a:p>
          <a:p>
            <a:pPr lvl="3"/>
            <a:endParaRPr lang="en-US" sz="2400" b="0" dirty="0">
              <a:latin typeface="+mj-lt"/>
              <a:cs typeface="Segoe UI"/>
            </a:endParaRPr>
          </a:p>
          <a:p>
            <a:pPr marL="285750" lvl="3" indent="-285750">
              <a:buFont typeface="Arial,Sans-Serif" panose="020B0604020202020204" pitchFamily="34" charset="0"/>
              <a:buChar char="•"/>
            </a:pPr>
            <a:r>
              <a:rPr lang="en-GB" sz="2400" b="0" dirty="0"/>
              <a:t>Saves time &amp; costs</a:t>
            </a:r>
          </a:p>
          <a:p>
            <a:pPr marL="466725" lvl="5" indent="-285750">
              <a:buFont typeface="Arial,Sans-Serif" panose="020B0604020202020204" pitchFamily="34" charset="0"/>
              <a:buChar char="•"/>
            </a:pPr>
            <a:r>
              <a:rPr lang="en-GB" sz="2200" dirty="0"/>
              <a:t>Budget cuts. Maybe this is a good opportunity to reuse more data?</a:t>
            </a:r>
          </a:p>
          <a:p>
            <a:pPr marL="285750" lvl="3" indent="-285750">
              <a:buFont typeface="Arial,Sans-Serif" panose="020B0604020202020204" pitchFamily="34" charset="0"/>
              <a:buChar char="•"/>
            </a:pPr>
            <a:endParaRPr lang="en-US" dirty="0"/>
          </a:p>
          <a:p>
            <a:pPr marL="285750" lvl="3" indent="-285750">
              <a:buFont typeface="Arial" panose="020B0604020202020204" pitchFamily="34" charset="0"/>
              <a:buChar char="•"/>
            </a:pPr>
            <a:endParaRPr lang="en-US" sz="2400" b="0" dirty="0">
              <a:latin typeface="+mj-lt"/>
              <a:cs typeface="Segoe UI"/>
            </a:endParaRPr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D6E8E93-E2A6-4FFE-A194-8E8AE3939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62" y="692696"/>
            <a:ext cx="11389024" cy="432048"/>
          </a:xfrm>
        </p:spPr>
        <p:txBody>
          <a:bodyPr/>
          <a:lstStyle/>
          <a:p>
            <a:r>
              <a:rPr lang="nl-NL" sz="4000" dirty="0"/>
              <a:t>2. What is the importance of</a:t>
            </a:r>
            <a:br>
              <a:rPr lang="nl-NL" sz="4000" dirty="0"/>
            </a:br>
            <a:r>
              <a:rPr lang="nl-NL" sz="4000" dirty="0"/>
              <a:t>publication packages?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18133298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D7AF1-61A9-6A0A-EF5D-F5F68B9FB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verticale tekst 6">
            <a:extLst>
              <a:ext uri="{FF2B5EF4-FFF2-40B4-BE49-F238E27FC236}">
                <a16:creationId xmlns:a16="http://schemas.microsoft.com/office/drawing/2014/main" id="{4F79AAFA-E5E1-257C-5613-8C4B7BA87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04662" y="2017540"/>
            <a:ext cx="10159009" cy="4795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Replication crisis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	More replication research is needed, more collaboration, publishing null results, and being able to acknowledge errors.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However, for your career, it is mainly important to publish a lot,</a:t>
            </a:r>
            <a:br>
              <a:rPr lang="en-US" sz="2400" dirty="0"/>
            </a:br>
            <a:r>
              <a:rPr lang="en-US" sz="2400" dirty="0"/>
              <a:t>preferably new studies...</a:t>
            </a:r>
            <a:endParaRPr lang="nl-NL" dirty="0"/>
          </a:p>
          <a:p>
            <a:endParaRPr lang="nl-NL" dirty="0"/>
          </a:p>
        </p:txBody>
      </p:sp>
      <p:pic>
        <p:nvPicPr>
          <p:cNvPr id="3" name="Graphic 2" descr="Chevron arrows with solid fill">
            <a:extLst>
              <a:ext uri="{FF2B5EF4-FFF2-40B4-BE49-F238E27FC236}">
                <a16:creationId xmlns:a16="http://schemas.microsoft.com/office/drawing/2014/main" id="{AFC75341-1165-A60F-51C0-599657419E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75" y="2636912"/>
            <a:ext cx="432048" cy="432048"/>
          </a:xfrm>
          <a:prstGeom prst="rect">
            <a:avLst/>
          </a:prstGeom>
        </p:spPr>
      </p:pic>
      <p:sp>
        <p:nvSpPr>
          <p:cNvPr id="8" name="Titel 5">
            <a:extLst>
              <a:ext uri="{FF2B5EF4-FFF2-40B4-BE49-F238E27FC236}">
                <a16:creationId xmlns:a16="http://schemas.microsoft.com/office/drawing/2014/main" id="{9BF388C3-93B3-433D-8FC0-86B59777A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62" y="692696"/>
            <a:ext cx="11389024" cy="432048"/>
          </a:xfrm>
        </p:spPr>
        <p:txBody>
          <a:bodyPr/>
          <a:lstStyle/>
          <a:p>
            <a:r>
              <a:rPr lang="nl-NL" sz="4000" dirty="0"/>
              <a:t>2. What is the importance of</a:t>
            </a:r>
            <a:br>
              <a:rPr lang="nl-NL" sz="4000" dirty="0"/>
            </a:br>
            <a:r>
              <a:rPr lang="nl-NL" sz="4000" dirty="0"/>
              <a:t>publication packages?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01429167"/>
      </p:ext>
    </p:extLst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EC8E3-461C-104E-5D95-18B6C73CA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2AC20B91-92C2-1794-8604-A719AC439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679" y="0"/>
            <a:ext cx="8712969" cy="6445881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81B62FA9-09E0-F7AD-4AB7-560CA4B6E1BB}"/>
              </a:ext>
            </a:extLst>
          </p:cNvPr>
          <p:cNvSpPr txBox="1"/>
          <p:nvPr/>
        </p:nvSpPr>
        <p:spPr>
          <a:xfrm>
            <a:off x="9915599" y="4581128"/>
            <a:ext cx="19442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Reference: </a:t>
            </a:r>
            <a:r>
              <a:rPr lang="en-US" sz="1000" dirty="0">
                <a:solidFill>
                  <a:srgbClr val="333333"/>
                </a:solidFill>
                <a:ea typeface="+mn-lt"/>
                <a:cs typeface="+mn-lt"/>
                <a:hlinkClick r:id="rId4"/>
              </a:rPr>
              <a:t>https://responsible-scholarship.pubpub.org/pub/rsp#n46ml93gftv</a:t>
            </a:r>
            <a:endParaRPr lang="en-US" sz="1000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21668739"/>
      </p:ext>
    </p:extLst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0460B-A942-6697-4C7C-23D118965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verticale tekst 6">
            <a:extLst>
              <a:ext uri="{FF2B5EF4-FFF2-40B4-BE49-F238E27FC236}">
                <a16:creationId xmlns:a16="http://schemas.microsoft.com/office/drawing/2014/main" id="{EFA35828-292D-ECE6-D4F9-7A7D95CB3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04662" y="2017540"/>
            <a:ext cx="11311137" cy="4795836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Transparency</a:t>
            </a:r>
            <a:r>
              <a:rPr lang="en-US" sz="3200" dirty="0"/>
              <a:t> 		less fraud? (not sure about that...)</a:t>
            </a:r>
          </a:p>
          <a:p>
            <a:r>
              <a:rPr lang="en-US" sz="2400" dirty="0"/>
              <a:t>If you know that someone else can see your steps, you automatically start working more carefully. This mainly benefits yourself!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3200" b="1" dirty="0"/>
              <a:t>Gives more weight to your research results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endParaRPr lang="nl-NL" dirty="0"/>
          </a:p>
          <a:p>
            <a:endParaRPr lang="nl-NL" dirty="0"/>
          </a:p>
        </p:txBody>
      </p:sp>
      <p:pic>
        <p:nvPicPr>
          <p:cNvPr id="4" name="Graphic 3" descr="Arrow Right with solid fill">
            <a:extLst>
              <a:ext uri="{FF2B5EF4-FFF2-40B4-BE49-F238E27FC236}">
                <a16:creationId xmlns:a16="http://schemas.microsoft.com/office/drawing/2014/main" id="{5F6903E5-BB1B-3B25-5EED-A91BD17543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0903" y="2420888"/>
            <a:ext cx="792088" cy="792088"/>
          </a:xfrm>
          <a:prstGeom prst="rect">
            <a:avLst/>
          </a:prstGeom>
        </p:spPr>
      </p:pic>
      <p:sp>
        <p:nvSpPr>
          <p:cNvPr id="8" name="Titel 5">
            <a:extLst>
              <a:ext uri="{FF2B5EF4-FFF2-40B4-BE49-F238E27FC236}">
                <a16:creationId xmlns:a16="http://schemas.microsoft.com/office/drawing/2014/main" id="{BC68EF35-5E80-44FD-9E98-B576D9B0C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62" y="692696"/>
            <a:ext cx="11389024" cy="432048"/>
          </a:xfrm>
        </p:spPr>
        <p:txBody>
          <a:bodyPr/>
          <a:lstStyle/>
          <a:p>
            <a:r>
              <a:rPr lang="nl-NL" sz="4000" dirty="0"/>
              <a:t>2. What is the importance of</a:t>
            </a:r>
            <a:br>
              <a:rPr lang="nl-NL" sz="4000" dirty="0"/>
            </a:br>
            <a:r>
              <a:rPr lang="nl-NL" sz="4000" dirty="0"/>
              <a:t>publication packages?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70050433"/>
      </p:ext>
    </p:extLst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1274639" y="2780928"/>
            <a:ext cx="9649072" cy="432048"/>
          </a:xfrm>
        </p:spPr>
        <p:txBody>
          <a:bodyPr/>
          <a:lstStyle/>
          <a:p>
            <a:r>
              <a:rPr lang="nl-NL" sz="80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759912458"/>
      </p:ext>
    </p:extLst>
  </p:cSld>
  <p:clrMapOvr>
    <a:masterClrMapping/>
  </p:clrMapOvr>
  <p:transition spd="slow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F2844-077B-1066-575C-B1F91417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B5E6A65-ACD8-681E-A630-94EBFBC0A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61" y="404664"/>
            <a:ext cx="11793689" cy="432048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3. Where do we store publication packages?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" name="Tijdelijke aanduiding voor verticale tekst 6">
            <a:extLst>
              <a:ext uri="{FF2B5EF4-FFF2-40B4-BE49-F238E27FC236}">
                <a16:creationId xmlns:a16="http://schemas.microsoft.com/office/drawing/2014/main" id="{0EBB3CD3-E4CB-5CFC-1105-6C755C718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04663" y="1252836"/>
            <a:ext cx="10735072" cy="5056484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3200" dirty="0">
                <a:latin typeface="+mj-lt"/>
              </a:rPr>
              <a:t>A data repository is a storage place for researchers to store the datasets associated with their research.</a:t>
            </a:r>
            <a:br>
              <a:rPr lang="en-US" sz="3200" dirty="0">
                <a:latin typeface="+mj-lt"/>
              </a:rPr>
            </a:br>
            <a:r>
              <a:rPr lang="en-US" sz="1600" dirty="0">
                <a:latin typeface="+mj-lt"/>
              </a:rPr>
              <a:t> </a:t>
            </a:r>
            <a:endParaRPr lang="en-US" sz="2400" dirty="0"/>
          </a:p>
          <a:p>
            <a:pPr marL="170815" indent="-170815">
              <a:buFont typeface="Arial"/>
              <a:buChar char="•"/>
            </a:pPr>
            <a:r>
              <a:rPr lang="en-US" sz="2400" dirty="0">
                <a:ea typeface="Roboto Slab"/>
                <a:cs typeface="Roboto Slab"/>
              </a:rPr>
              <a:t>Online platform to share data</a:t>
            </a:r>
          </a:p>
          <a:p>
            <a:pPr marL="170815" indent="-170815">
              <a:buFont typeface="Arial"/>
              <a:buChar char="•"/>
            </a:pPr>
            <a:r>
              <a:rPr lang="en-US" sz="2400" dirty="0">
                <a:ea typeface="Roboto Slab"/>
                <a:cs typeface="Roboto Slab"/>
              </a:rPr>
              <a:t>Make your data citable by adding a persistent identifier (DOI)</a:t>
            </a:r>
            <a:endParaRPr lang="en-US" sz="2400" dirty="0"/>
          </a:p>
          <a:p>
            <a:pPr marL="170815" indent="-170815">
              <a:buFont typeface="Arial"/>
              <a:buChar char="•"/>
            </a:pPr>
            <a:r>
              <a:rPr lang="en-US" sz="2400" dirty="0">
                <a:ea typeface="Roboto Slab"/>
                <a:cs typeface="Roboto Slab"/>
              </a:rPr>
              <a:t>Contribute to the findability of your data</a:t>
            </a:r>
            <a:endParaRPr lang="en-US" sz="2400" dirty="0"/>
          </a:p>
          <a:p>
            <a:pPr marL="170815" indent="-170815">
              <a:buFont typeface="Arial"/>
              <a:buChar char="•"/>
            </a:pPr>
            <a:r>
              <a:rPr lang="en-US" sz="2400" dirty="0">
                <a:ea typeface="Roboto Slab"/>
                <a:cs typeface="Roboto Slab"/>
              </a:rPr>
              <a:t>Make your data more valuable for current and future research</a:t>
            </a:r>
            <a:endParaRPr lang="en-US" sz="2400" dirty="0"/>
          </a:p>
          <a:p>
            <a:pPr marL="170815" indent="-170815">
              <a:buFont typeface="Arial"/>
              <a:buChar char="•"/>
            </a:pPr>
            <a:r>
              <a:rPr lang="en-US" sz="2400" dirty="0">
                <a:ea typeface="Roboto Slab"/>
                <a:cs typeface="Roboto Slab"/>
              </a:rPr>
              <a:t>Preserve your data for long-term storage</a:t>
            </a:r>
          </a:p>
          <a:p>
            <a:pPr marL="0" indent="0">
              <a:buNone/>
            </a:pPr>
            <a:endParaRPr lang="en-US" sz="2400" dirty="0">
              <a:solidFill>
                <a:srgbClr val="FF0000"/>
              </a:solidFill>
              <a:latin typeface="Georgia"/>
              <a:ea typeface="Roboto Slab"/>
              <a:cs typeface="Roboto Slab"/>
            </a:endParaRPr>
          </a:p>
          <a:p>
            <a:pPr marL="170815" indent="-170815">
              <a:buFont typeface="Arial"/>
              <a:buChar char="•"/>
            </a:pPr>
            <a:endParaRPr lang="en-US" sz="2400" dirty="0">
              <a:ea typeface="Roboto Slab"/>
              <a:cs typeface="Roboto Slab"/>
            </a:endParaRPr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We mostly use </a:t>
            </a:r>
            <a:r>
              <a:rPr lang="en-US" sz="3600" b="1" dirty="0" err="1">
                <a:latin typeface="+mj-lt"/>
              </a:rPr>
              <a:t>DataverseNL</a:t>
            </a:r>
            <a:r>
              <a:rPr lang="en-US" sz="2400" b="1" dirty="0">
                <a:latin typeface="+mj-lt"/>
              </a:rPr>
              <a:t>.</a:t>
            </a:r>
            <a:endParaRPr lang="en-US" sz="2400" dirty="0">
              <a:latin typeface="+mj-lt"/>
            </a:endParaRPr>
          </a:p>
          <a:p>
            <a:pPr marL="170815" indent="-170815">
              <a:buFont typeface="Arial"/>
              <a:buChar char="•"/>
            </a:pPr>
            <a:endParaRPr lang="en-US" sz="2400" dirty="0"/>
          </a:p>
          <a:p>
            <a:endParaRPr lang="nl-NL" sz="24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31840328"/>
      </p:ext>
    </p:extLst>
  </p:cSld>
  <p:clrMapOvr>
    <a:masterClrMapping/>
  </p:clrMapOvr>
  <p:transition spd="slow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9885E-C5DB-2C1E-D02A-B2B6F3FAD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0B5B3505-999F-3973-393F-EEC90AC7C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61" y="404664"/>
            <a:ext cx="11793689" cy="432048"/>
          </a:xfrm>
        </p:spPr>
        <p:txBody>
          <a:bodyPr/>
          <a:lstStyle/>
          <a:p>
            <a:r>
              <a:rPr lang="nl-NL" dirty="0"/>
              <a:t>3. Where do we store publication packages?</a:t>
            </a:r>
            <a:endParaRPr lang="nl-NL" sz="3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49610C-AEBF-76E3-5F68-699EE16135A1}"/>
              </a:ext>
            </a:extLst>
          </p:cNvPr>
          <p:cNvSpPr txBox="1"/>
          <p:nvPr/>
        </p:nvSpPr>
        <p:spPr>
          <a:xfrm>
            <a:off x="387214" y="2708920"/>
            <a:ext cx="4872673" cy="2246079"/>
          </a:xfrm>
          <a:prstGeom prst="rect">
            <a:avLst/>
          </a:prstGeom>
          <a:noFill/>
        </p:spPr>
        <p:txBody>
          <a:bodyPr wrap="square" lIns="91392" tIns="45696" rIns="91392" bIns="45696" rtlCol="0" anchor="t">
            <a:spAutoFit/>
          </a:bodyPr>
          <a:lstStyle/>
          <a:p>
            <a:r>
              <a:rPr lang="en-US" sz="2799" dirty="0">
                <a:solidFill>
                  <a:schemeClr val="bg2"/>
                </a:solidFill>
              </a:rPr>
              <a:t>Click on “Log in” and choose “Institutional Login”</a:t>
            </a:r>
          </a:p>
          <a:p>
            <a:endParaRPr lang="en-US" sz="2799" dirty="0">
              <a:solidFill>
                <a:schemeClr val="bg2"/>
              </a:solidFill>
            </a:endParaRPr>
          </a:p>
          <a:p>
            <a:r>
              <a:rPr lang="en-US" sz="2799" u="sng" dirty="0">
                <a:solidFill>
                  <a:schemeClr val="bg2"/>
                </a:solidFill>
                <a:ea typeface="Calibri"/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https://dataverse.nl/</a:t>
            </a:r>
            <a:endParaRPr lang="en-US" sz="2799" dirty="0">
              <a:solidFill>
                <a:schemeClr val="bg2"/>
              </a:solidFill>
              <a:ea typeface="Calibri"/>
              <a:cs typeface="Times New Roman"/>
            </a:endParaRPr>
          </a:p>
          <a:p>
            <a:endParaRPr lang="nl-NL" sz="2799" dirty="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747EFF67-A4F9-0785-14C0-3D9DD6AD0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095" y="2043656"/>
            <a:ext cx="6549261" cy="339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87059"/>
      </p:ext>
    </p:extLst>
  </p:cSld>
  <p:clrMapOvr>
    <a:masterClrMapping/>
  </p:clrMapOvr>
  <p:transition spd="slow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4DCD5E-D9AB-AA85-A9EB-A14F96B45C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16"/>
          <a:stretch/>
        </p:blipFill>
        <p:spPr>
          <a:xfrm>
            <a:off x="50503" y="116632"/>
            <a:ext cx="7227541" cy="62991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24B88B-C200-A4B9-9061-3BF135F26175}"/>
              </a:ext>
            </a:extLst>
          </p:cNvPr>
          <p:cNvSpPr txBox="1"/>
          <p:nvPr/>
        </p:nvSpPr>
        <p:spPr>
          <a:xfrm>
            <a:off x="7278044" y="1964496"/>
            <a:ext cx="4581771" cy="29290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chemeClr val="bg2"/>
                </a:solidFill>
                <a:ea typeface="Calibri"/>
                <a:cs typeface="Times New Roman"/>
              </a:rPr>
              <a:t>Search by:</a:t>
            </a:r>
            <a:endParaRPr lang="nl-NL" sz="2800" b="1" dirty="0">
              <a:solidFill>
                <a:schemeClr val="bg2"/>
              </a:solidFill>
              <a:ea typeface="Calibri"/>
              <a:cs typeface="Times New Roman"/>
            </a:endParaRPr>
          </a:p>
          <a:p>
            <a:pPr marL="342729" indent="-342729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ea typeface="Calibri"/>
                <a:cs typeface="Times New Roman"/>
              </a:rPr>
              <a:t>Title</a:t>
            </a:r>
            <a:endParaRPr lang="nl-NL" sz="2800" dirty="0">
              <a:solidFill>
                <a:schemeClr val="bg2"/>
              </a:solidFill>
              <a:ea typeface="Calibri"/>
              <a:cs typeface="Times New Roman"/>
            </a:endParaRPr>
          </a:p>
          <a:p>
            <a:pPr marL="342729" indent="-342729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ea typeface="Calibri"/>
                <a:cs typeface="Times New Roman"/>
              </a:rPr>
              <a:t>Keyword</a:t>
            </a:r>
            <a:endParaRPr lang="nl-NL" sz="2800" dirty="0">
              <a:solidFill>
                <a:schemeClr val="bg2"/>
              </a:solidFill>
              <a:ea typeface="Calibri"/>
              <a:cs typeface="Times New Roman"/>
            </a:endParaRPr>
          </a:p>
          <a:p>
            <a:pPr marL="342265" indent="-342265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ea typeface="Calibri"/>
                <a:cs typeface="Times New Roman"/>
              </a:rPr>
              <a:t>Subject</a:t>
            </a:r>
          </a:p>
          <a:p>
            <a:pPr marL="342729" indent="-342729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nl-NL" sz="2800" dirty="0">
                <a:solidFill>
                  <a:schemeClr val="bg2"/>
                </a:solidFill>
                <a:ea typeface="Calibri"/>
                <a:cs typeface="Times New Roman"/>
              </a:rPr>
              <a:t>University/Institution</a:t>
            </a:r>
          </a:p>
          <a:p>
            <a:pPr marL="342729" indent="-342729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ea typeface="Calibri"/>
                <a:cs typeface="Times New Roman"/>
              </a:rPr>
              <a:t>Year</a:t>
            </a:r>
            <a:endParaRPr lang="nl-NL" sz="2800" dirty="0">
              <a:solidFill>
                <a:schemeClr val="bg2"/>
              </a:solidFill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0732947"/>
      </p:ext>
    </p:extLst>
  </p:cSld>
  <p:clrMapOvr>
    <a:masterClrMapping/>
  </p:clrMapOvr>
  <p:transition spd="slow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73ED8-CB11-4BF8-8DCE-554E319D7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55F1F29-4AD3-1906-9056-27D6AFB65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61" y="620688"/>
            <a:ext cx="11793689" cy="432048"/>
          </a:xfrm>
        </p:spPr>
        <p:txBody>
          <a:bodyPr/>
          <a:lstStyle/>
          <a:p>
            <a:r>
              <a:rPr lang="en-US" sz="3800" dirty="0"/>
              <a:t>4. Exercise: How FAIR is this publication package?</a:t>
            </a:r>
            <a:endParaRPr lang="nl-NL" sz="38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004A3F4-1C04-E745-9EFF-F1ADD1105820}"/>
              </a:ext>
            </a:extLst>
          </p:cNvPr>
          <p:cNvGrpSpPr/>
          <p:nvPr/>
        </p:nvGrpSpPr>
        <p:grpSpPr>
          <a:xfrm>
            <a:off x="-72508" y="1123787"/>
            <a:ext cx="12148347" cy="5122086"/>
            <a:chOff x="-1892237" y="724656"/>
            <a:chExt cx="12154674" cy="5124753"/>
          </a:xfrm>
        </p:grpSpPr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7DF0C387-4C7E-4FB8-57F1-98C7EF7F1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/>
          </p:blipFill>
          <p:spPr>
            <a:xfrm>
              <a:off x="-1892237" y="1518901"/>
              <a:ext cx="5811681" cy="3718912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CustomShape 4">
              <a:extLst>
                <a:ext uri="{FF2B5EF4-FFF2-40B4-BE49-F238E27FC236}">
                  <a16:creationId xmlns:a16="http://schemas.microsoft.com/office/drawing/2014/main" id="{F49AE746-559C-DEBE-1F11-CB7B7732FB21}"/>
                </a:ext>
              </a:extLst>
            </p:cNvPr>
            <p:cNvSpPr/>
            <p:nvPr/>
          </p:nvSpPr>
          <p:spPr>
            <a:xfrm>
              <a:off x="2673101" y="724656"/>
              <a:ext cx="7517290" cy="9133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9953" tIns="44977" rIns="89953" bIns="44977" anchor="t"/>
            <a:lstStyle/>
            <a:p>
              <a:pPr>
                <a:defRPr/>
              </a:pPr>
              <a:r>
                <a:rPr lang="en-US" sz="3200" b="1" dirty="0">
                  <a:solidFill>
                    <a:schemeClr val="bg2"/>
                  </a:solidFill>
                </a:rPr>
                <a:t>F</a:t>
              </a:r>
              <a:r>
                <a:rPr lang="en-US" sz="2400" b="1" dirty="0">
                  <a:solidFill>
                    <a:schemeClr val="bg2"/>
                  </a:solidFill>
                </a:rPr>
                <a:t>indable</a:t>
              </a:r>
              <a:br>
                <a:rPr lang="en-US" sz="1950" dirty="0">
                  <a:solidFill>
                    <a:schemeClr val="bg2"/>
                  </a:solidFill>
                </a:rPr>
              </a:br>
              <a:r>
                <a:rPr lang="en-US" sz="1950" dirty="0">
                  <a:solidFill>
                    <a:schemeClr val="bg2"/>
                  </a:solidFill>
                </a:rPr>
                <a:t>By both humans and machines</a:t>
              </a:r>
            </a:p>
            <a:p>
              <a:pPr>
                <a:defRPr/>
              </a:pPr>
              <a:r>
                <a:rPr lang="en-US" sz="1950" dirty="0">
                  <a:solidFill>
                    <a:schemeClr val="bg2"/>
                  </a:solidFill>
                </a:rPr>
                <a:t>Include metadata that allow the discovery of interesting datasets</a:t>
              </a:r>
            </a:p>
          </p:txBody>
        </p:sp>
        <p:sp>
          <p:nvSpPr>
            <p:cNvPr id="10" name="CustomShape 5">
              <a:extLst>
                <a:ext uri="{FF2B5EF4-FFF2-40B4-BE49-F238E27FC236}">
                  <a16:creationId xmlns:a16="http://schemas.microsoft.com/office/drawing/2014/main" id="{F746161A-F925-2859-F318-92C189BAD29C}"/>
                </a:ext>
              </a:extLst>
            </p:cNvPr>
            <p:cNvSpPr/>
            <p:nvPr/>
          </p:nvSpPr>
          <p:spPr>
            <a:xfrm>
              <a:off x="4282660" y="2074043"/>
              <a:ext cx="5979777" cy="14612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9953" tIns="44977" rIns="89953" bIns="44977"/>
            <a:lstStyle/>
            <a:p>
              <a:pPr>
                <a:defRPr/>
              </a:pPr>
              <a:r>
                <a:rPr lang="en-US" sz="3200" b="1" spc="-1" dirty="0">
                  <a:solidFill>
                    <a:schemeClr val="bg2"/>
                  </a:solidFill>
                </a:rPr>
                <a:t>A</a:t>
              </a:r>
              <a:r>
                <a:rPr lang="en-US" sz="2400" b="1" spc="-1" dirty="0">
                  <a:solidFill>
                    <a:schemeClr val="bg2"/>
                  </a:solidFill>
                </a:rPr>
                <a:t>ccessible</a:t>
              </a:r>
              <a:br>
                <a:rPr lang="en-US" sz="1999" b="1" spc="-1" dirty="0">
                  <a:solidFill>
                    <a:schemeClr val="bg2"/>
                  </a:solidFill>
                </a:rPr>
              </a:br>
              <a:r>
                <a:rPr lang="en-US" sz="1999" spc="-1" dirty="0">
                  <a:solidFill>
                    <a:schemeClr val="bg2"/>
                  </a:solidFill>
                </a:rPr>
                <a:t>Stored for long term with technical access and well-defined legal conditions</a:t>
              </a:r>
              <a:br>
                <a:rPr lang="en-US" sz="1999" b="1" spc="-1" dirty="0">
                  <a:solidFill>
                    <a:schemeClr val="bg2"/>
                  </a:solidFill>
                </a:rPr>
              </a:br>
              <a:r>
                <a:rPr lang="en-US" sz="1999" i="1" spc="-1" dirty="0">
                  <a:solidFill>
                    <a:schemeClr val="bg2"/>
                  </a:solidFill>
                </a:rPr>
                <a:t>Open if possible</a:t>
              </a:r>
              <a:endParaRPr lang="en-US" sz="1999" spc="-1" dirty="0">
                <a:solidFill>
                  <a:schemeClr val="bg2"/>
                </a:solidFill>
              </a:endParaRPr>
            </a:p>
          </p:txBody>
        </p:sp>
        <p:sp>
          <p:nvSpPr>
            <p:cNvPr id="11" name="CustomShape 6">
              <a:extLst>
                <a:ext uri="{FF2B5EF4-FFF2-40B4-BE49-F238E27FC236}">
                  <a16:creationId xmlns:a16="http://schemas.microsoft.com/office/drawing/2014/main" id="{93042D74-C103-7671-3EA4-2303E477F1C8}"/>
                </a:ext>
              </a:extLst>
            </p:cNvPr>
            <p:cNvSpPr/>
            <p:nvPr/>
          </p:nvSpPr>
          <p:spPr>
            <a:xfrm>
              <a:off x="3872228" y="3799835"/>
              <a:ext cx="5119037" cy="912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9953" tIns="44977" rIns="89953" bIns="44977"/>
            <a:lstStyle/>
            <a:p>
              <a:pPr>
                <a:defRPr/>
              </a:pPr>
              <a:r>
                <a:rPr lang="en-US" sz="3200" b="1" spc="-1" dirty="0">
                  <a:solidFill>
                    <a:schemeClr val="bg2"/>
                  </a:solidFill>
                </a:rPr>
                <a:t>I</a:t>
              </a:r>
              <a:r>
                <a:rPr lang="en-US" sz="2400" b="1" spc="-1" dirty="0">
                  <a:solidFill>
                    <a:schemeClr val="bg2"/>
                  </a:solidFill>
                </a:rPr>
                <a:t>nteroperable</a:t>
              </a:r>
              <a:br>
                <a:rPr lang="en-US" sz="1999" b="1" spc="-1" dirty="0">
                  <a:solidFill>
                    <a:schemeClr val="bg2"/>
                  </a:solidFill>
                </a:rPr>
              </a:br>
              <a:r>
                <a:rPr lang="en-US" sz="1999" spc="-1" dirty="0">
                  <a:solidFill>
                    <a:schemeClr val="bg2"/>
                  </a:solidFill>
                </a:rPr>
                <a:t>Ready to be combined with other datasets</a:t>
              </a:r>
            </a:p>
          </p:txBody>
        </p:sp>
        <p:sp>
          <p:nvSpPr>
            <p:cNvPr id="12" name="CustomShape 7">
              <a:extLst>
                <a:ext uri="{FF2B5EF4-FFF2-40B4-BE49-F238E27FC236}">
                  <a16:creationId xmlns:a16="http://schemas.microsoft.com/office/drawing/2014/main" id="{8F630513-EAD4-E987-922F-6BED7E8B0795}"/>
                </a:ext>
              </a:extLst>
            </p:cNvPr>
            <p:cNvSpPr/>
            <p:nvPr/>
          </p:nvSpPr>
          <p:spPr>
            <a:xfrm>
              <a:off x="2625614" y="4936809"/>
              <a:ext cx="4571640" cy="912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9953" tIns="44977" rIns="89953" bIns="44977"/>
            <a:lstStyle/>
            <a:p>
              <a:pPr>
                <a:defRPr/>
              </a:pPr>
              <a:r>
                <a:rPr lang="en-US" sz="3200" b="1" spc="-1" dirty="0">
                  <a:solidFill>
                    <a:schemeClr val="bg2"/>
                  </a:solidFill>
                </a:rPr>
                <a:t>R</a:t>
              </a:r>
              <a:r>
                <a:rPr lang="en-US" sz="2400" b="1" spc="-1" dirty="0">
                  <a:solidFill>
                    <a:schemeClr val="bg2"/>
                  </a:solidFill>
                </a:rPr>
                <a:t>eusable</a:t>
              </a:r>
              <a:br>
                <a:rPr lang="en-US" sz="1999" b="1" spc="-1" dirty="0">
                  <a:solidFill>
                    <a:schemeClr val="bg2"/>
                  </a:solidFill>
                </a:rPr>
              </a:br>
              <a:r>
                <a:rPr lang="en-US" sz="1999" spc="-1" dirty="0">
                  <a:solidFill>
                    <a:schemeClr val="bg2"/>
                  </a:solidFill>
                </a:rPr>
                <a:t>Ready to be used for future research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04944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F08B5-32A9-EFFE-E342-A4C7F916C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9DC421-7571-2006-F0EE-F6C7F6345544}"/>
              </a:ext>
            </a:extLst>
          </p:cNvPr>
          <p:cNvSpPr txBox="1"/>
          <p:nvPr/>
        </p:nvSpPr>
        <p:spPr>
          <a:xfrm>
            <a:off x="404661" y="1443841"/>
            <a:ext cx="1145515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chemeClr val="bg2"/>
                </a:solidFill>
              </a:rPr>
              <a:t>Look up the following papers and complete the assignment on the following slide:</a:t>
            </a:r>
            <a:endParaRPr lang="en-GB" sz="18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1. </a:t>
            </a:r>
            <a:r>
              <a:rPr lang="en-US" sz="1800" dirty="0" err="1">
                <a:solidFill>
                  <a:schemeClr val="bg2"/>
                </a:solidFill>
              </a:rPr>
              <a:t>Achterberg</a:t>
            </a:r>
            <a:r>
              <a:rPr lang="en-US" sz="1800" dirty="0">
                <a:solidFill>
                  <a:schemeClr val="bg2"/>
                </a:solidFill>
              </a:rPr>
              <a:t>, M., </a:t>
            </a:r>
            <a:r>
              <a:rPr lang="en-US" sz="1800" dirty="0" err="1">
                <a:solidFill>
                  <a:schemeClr val="bg2"/>
                </a:solidFill>
              </a:rPr>
              <a:t>Dobbelaar</a:t>
            </a:r>
            <a:r>
              <a:rPr lang="en-US" sz="1800" dirty="0">
                <a:solidFill>
                  <a:schemeClr val="bg2"/>
                </a:solidFill>
              </a:rPr>
              <a:t>, S., Boer, O.D. et al. Perceived stress as mediator for longitudinal effects of the COVID-19 lockdown on wellbeing of parents and children. Sci Rep 11, 2971 (2021). </a:t>
            </a:r>
            <a:r>
              <a:rPr lang="en-US" sz="1800" u="sng" dirty="0">
                <a:solidFill>
                  <a:schemeClr val="bg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https://doi.org/10.1038/s41598-021-81720-8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endParaRPr lang="en-NL" sz="18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2. </a:t>
            </a:r>
            <a:r>
              <a:rPr lang="en-US" sz="1800" dirty="0" err="1">
                <a:solidFill>
                  <a:schemeClr val="bg2"/>
                </a:solidFill>
              </a:rPr>
              <a:t>Gaëtan</a:t>
            </a:r>
            <a:r>
              <a:rPr lang="en-US" sz="1800" dirty="0">
                <a:solidFill>
                  <a:schemeClr val="bg2"/>
                </a:solidFill>
              </a:rPr>
              <a:t> Mertens, Lotte Gerritsen, Stefanie </a:t>
            </a:r>
            <a:r>
              <a:rPr lang="en-US" sz="1800" dirty="0" err="1">
                <a:solidFill>
                  <a:schemeClr val="bg2"/>
                </a:solidFill>
              </a:rPr>
              <a:t>Duijndam</a:t>
            </a:r>
            <a:r>
              <a:rPr lang="en-US" sz="1800" dirty="0">
                <a:solidFill>
                  <a:schemeClr val="bg2"/>
                </a:solidFill>
              </a:rPr>
              <a:t>, </a:t>
            </a:r>
            <a:r>
              <a:rPr lang="en-US" sz="1800" dirty="0" err="1">
                <a:solidFill>
                  <a:schemeClr val="bg2"/>
                </a:solidFill>
              </a:rPr>
              <a:t>Elske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Salemink</a:t>
            </a:r>
            <a:r>
              <a:rPr lang="en-US" sz="1800" dirty="0">
                <a:solidFill>
                  <a:schemeClr val="bg2"/>
                </a:solidFill>
              </a:rPr>
              <a:t>, Iris M. Engelhard, Fear of the coronavirus (COVID-19): Predictors in an online study conducted in March 2020, Journal of Anxiety Disorders, Volume 74, 2020, 102258, ISSN 0887-6185, </a:t>
            </a:r>
            <a:r>
              <a:rPr lang="en-US" sz="1800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https://doi.org/10.1016/j.janxdis.2020.102258</a:t>
            </a:r>
            <a:r>
              <a:rPr lang="en-US" sz="1800" dirty="0">
                <a:solidFill>
                  <a:schemeClr val="bg2"/>
                </a:solidFill>
              </a:rPr>
              <a:t>.</a:t>
            </a:r>
            <a:endParaRPr lang="en-NL" sz="18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9F5863D5-A5F2-4242-7BFC-8D750F58E5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647" y="5119123"/>
            <a:ext cx="3777055" cy="1281850"/>
          </a:xfrm>
          <a:prstGeom prst="rect">
            <a:avLst/>
          </a:prstGeom>
        </p:spPr>
      </p:pic>
      <p:sp>
        <p:nvSpPr>
          <p:cNvPr id="8" name="Titel 5">
            <a:extLst>
              <a:ext uri="{FF2B5EF4-FFF2-40B4-BE49-F238E27FC236}">
                <a16:creationId xmlns:a16="http://schemas.microsoft.com/office/drawing/2014/main" id="{7949454D-4C9C-49EB-95D3-BB5902E0F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61" y="620688"/>
            <a:ext cx="11793689" cy="432048"/>
          </a:xfrm>
        </p:spPr>
        <p:txBody>
          <a:bodyPr/>
          <a:lstStyle/>
          <a:p>
            <a:r>
              <a:rPr lang="en-US" sz="3800" dirty="0"/>
              <a:t>4. Exercise: How FAIR is this publication package?</a:t>
            </a:r>
            <a:endParaRPr lang="nl-NL" sz="3800" dirty="0"/>
          </a:p>
        </p:txBody>
      </p:sp>
    </p:spTree>
    <p:extLst>
      <p:ext uri="{BB962C8B-B14F-4D97-AF65-F5344CB8AC3E}">
        <p14:creationId xmlns:p14="http://schemas.microsoft.com/office/powerpoint/2010/main" val="592734309"/>
      </p:ext>
    </p:extLst>
  </p:cSld>
  <p:clrMapOvr>
    <a:masterClrMapping/>
  </p:clrMapOvr>
  <p:transition spd="slow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7AB5F-02A9-720D-8156-41CD0E8F4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731BC1-BDD6-0F1A-F4AA-0FE55E8EF398}"/>
              </a:ext>
            </a:extLst>
          </p:cNvPr>
          <p:cNvSpPr txBox="1"/>
          <p:nvPr/>
        </p:nvSpPr>
        <p:spPr>
          <a:xfrm>
            <a:off x="404661" y="1443841"/>
            <a:ext cx="1145515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bg2"/>
                </a:solidFill>
              </a:rPr>
              <a:t>I. For every paper, on a scale of 1-10, which score do you give</a:t>
            </a:r>
            <a:br>
              <a:rPr lang="en-US" sz="2400" dirty="0">
                <a:solidFill>
                  <a:schemeClr val="bg2"/>
                </a:solidFill>
              </a:rPr>
            </a:br>
            <a:r>
              <a:rPr lang="en-US" sz="2400" dirty="0">
                <a:solidFill>
                  <a:schemeClr val="bg2"/>
                </a:solidFill>
              </a:rPr>
              <a:t>the </a:t>
            </a:r>
            <a:r>
              <a:rPr lang="en-US" sz="2400" dirty="0" err="1">
                <a:solidFill>
                  <a:schemeClr val="bg2"/>
                </a:solidFill>
              </a:rPr>
              <a:t>FAIRness</a:t>
            </a:r>
            <a:r>
              <a:rPr lang="en-US" sz="2400" dirty="0">
                <a:solidFill>
                  <a:schemeClr val="bg2"/>
                </a:solidFill>
              </a:rPr>
              <a:t> of the data?</a:t>
            </a:r>
          </a:p>
          <a:p>
            <a:pPr>
              <a:defRPr/>
            </a:pPr>
            <a:endParaRPr lang="en-US" sz="2400" dirty="0">
              <a:solidFill>
                <a:schemeClr val="bg2"/>
              </a:solidFill>
            </a:endParaRPr>
          </a:p>
          <a:p>
            <a:pPr marL="0" indent="0">
              <a:buNone/>
              <a:defRPr/>
            </a:pPr>
            <a:r>
              <a:rPr lang="en-US" sz="2400" b="1" dirty="0">
                <a:solidFill>
                  <a:schemeClr val="bg2"/>
                </a:solidFill>
              </a:rPr>
              <a:t>Findable</a:t>
            </a:r>
            <a:r>
              <a:rPr lang="en-US" sz="2400" dirty="0">
                <a:solidFill>
                  <a:schemeClr val="bg2"/>
                </a:solidFill>
              </a:rPr>
              <a:t>  		: How easy is it to find the data?</a:t>
            </a:r>
          </a:p>
          <a:p>
            <a:pPr marL="0" indent="0">
              <a:buNone/>
              <a:defRPr/>
            </a:pPr>
            <a:r>
              <a:rPr lang="en-US" sz="2400" b="1" dirty="0">
                <a:solidFill>
                  <a:schemeClr val="bg2"/>
                </a:solidFill>
              </a:rPr>
              <a:t>Accessible</a:t>
            </a:r>
            <a:r>
              <a:rPr lang="en-US" sz="2400" dirty="0">
                <a:solidFill>
                  <a:schemeClr val="bg2"/>
                </a:solidFill>
              </a:rPr>
              <a:t>		: How easy is it to gain access to the data?</a:t>
            </a:r>
          </a:p>
          <a:p>
            <a:pPr marL="0" indent="0">
              <a:buNone/>
              <a:defRPr/>
            </a:pPr>
            <a:r>
              <a:rPr lang="en-US" sz="2400" b="1" dirty="0">
                <a:solidFill>
                  <a:schemeClr val="bg2"/>
                </a:solidFill>
              </a:rPr>
              <a:t>Interoperable</a:t>
            </a:r>
            <a:r>
              <a:rPr lang="en-US" sz="2400" dirty="0">
                <a:solidFill>
                  <a:schemeClr val="bg2"/>
                </a:solidFill>
              </a:rPr>
              <a:t>	: Does the documentation support in understanding the data? </a:t>
            </a:r>
          </a:p>
          <a:p>
            <a:pPr marL="0" indent="0">
              <a:buNone/>
              <a:defRPr/>
            </a:pPr>
            <a:r>
              <a:rPr lang="en-US" sz="2400" b="1" dirty="0">
                <a:solidFill>
                  <a:schemeClr val="bg2"/>
                </a:solidFill>
              </a:rPr>
              <a:t>Re-usable</a:t>
            </a:r>
            <a:r>
              <a:rPr lang="en-US" sz="2400" dirty="0">
                <a:solidFill>
                  <a:schemeClr val="bg2"/>
                </a:solidFill>
              </a:rPr>
              <a:t> 		: Does the </a:t>
            </a:r>
            <a:r>
              <a:rPr lang="en-US" sz="2400" dirty="0" err="1">
                <a:solidFill>
                  <a:schemeClr val="bg2"/>
                </a:solidFill>
              </a:rPr>
              <a:t>licence</a:t>
            </a:r>
            <a:r>
              <a:rPr lang="en-US" sz="2400" dirty="0">
                <a:solidFill>
                  <a:schemeClr val="bg2"/>
                </a:solidFill>
              </a:rPr>
              <a:t> allow to reuse the data? </a:t>
            </a:r>
          </a:p>
          <a:p>
            <a:pPr marL="0" indent="0">
              <a:buNone/>
              <a:defRPr/>
            </a:pPr>
            <a:endParaRPr lang="nl-NL" sz="2400" dirty="0">
              <a:solidFill>
                <a:schemeClr val="bg2"/>
              </a:solidFill>
            </a:endParaRPr>
          </a:p>
          <a:p>
            <a:pPr marL="0" indent="0">
              <a:buNone/>
              <a:defRPr/>
            </a:pPr>
            <a:r>
              <a:rPr lang="nl-NL" sz="2400" dirty="0">
                <a:solidFill>
                  <a:schemeClr val="bg2"/>
                </a:solidFill>
              </a:rPr>
              <a:t>II. Discuss your scores in groups.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BB2C7E54-5584-72BB-A9E1-BAF60E67E3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647" y="5119123"/>
            <a:ext cx="3777055" cy="1281850"/>
          </a:xfrm>
          <a:prstGeom prst="rect">
            <a:avLst/>
          </a:prstGeom>
        </p:spPr>
      </p:pic>
      <p:sp>
        <p:nvSpPr>
          <p:cNvPr id="8" name="Titel 5">
            <a:extLst>
              <a:ext uri="{FF2B5EF4-FFF2-40B4-BE49-F238E27FC236}">
                <a16:creationId xmlns:a16="http://schemas.microsoft.com/office/drawing/2014/main" id="{846F0C04-2121-486D-B7B5-B02D6A665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61" y="620688"/>
            <a:ext cx="11793689" cy="432048"/>
          </a:xfrm>
        </p:spPr>
        <p:txBody>
          <a:bodyPr/>
          <a:lstStyle/>
          <a:p>
            <a:r>
              <a:rPr lang="en-US" sz="3800" dirty="0"/>
              <a:t>4. Exercise: How FAIR is this publication package?</a:t>
            </a:r>
            <a:endParaRPr lang="nl-NL" sz="3800" dirty="0"/>
          </a:p>
        </p:txBody>
      </p:sp>
    </p:spTree>
    <p:extLst>
      <p:ext uri="{BB962C8B-B14F-4D97-AF65-F5344CB8AC3E}">
        <p14:creationId xmlns:p14="http://schemas.microsoft.com/office/powerpoint/2010/main" val="2833364537"/>
      </p:ext>
    </p:extLst>
  </p:cSld>
  <p:clrMapOvr>
    <a:masterClrMapping/>
  </p:clrMapOvr>
  <p:transition spd="slow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405516" y="2564904"/>
            <a:ext cx="3925907" cy="360040"/>
          </a:xfrm>
        </p:spPr>
        <p:txBody>
          <a:bodyPr/>
          <a:lstStyle/>
          <a:p>
            <a:r>
              <a:rPr lang="nl-NL" sz="7200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3247583210"/>
      </p:ext>
    </p:extLst>
  </p:cSld>
  <p:clrMapOvr>
    <a:masterClrMapping/>
  </p:clrMapOvr>
  <p:transition spd="slow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1605B-BA4C-7B4C-897E-A88874760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A4AFA35E-AF0B-8105-3CE5-EA256863C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5</a:t>
            </a:r>
            <a:r>
              <a:rPr lang="nl-NL" sz="4000" dirty="0"/>
              <a:t>. Privacy </a:t>
            </a:r>
            <a:r>
              <a:rPr lang="nl-NL" dirty="0"/>
              <a:t>and sensitive data</a:t>
            </a:r>
            <a:endParaRPr lang="nl-NL" sz="4000" dirty="0"/>
          </a:p>
        </p:txBody>
      </p:sp>
      <p:sp>
        <p:nvSpPr>
          <p:cNvPr id="7" name="Tijdelijke aanduiding voor verticale tekst 6">
            <a:extLst>
              <a:ext uri="{FF2B5EF4-FFF2-40B4-BE49-F238E27FC236}">
                <a16:creationId xmlns:a16="http://schemas.microsoft.com/office/drawing/2014/main" id="{7B64AE5C-2B4C-68B8-44C1-D107C4F11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04662" y="1493701"/>
            <a:ext cx="11311137" cy="4795836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200" dirty="0"/>
              <a:t>How can you share publication packages in a safe way?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400" dirty="0"/>
              <a:t>Leave out/change sensitive or identifiable data</a:t>
            </a:r>
          </a:p>
          <a:p>
            <a:r>
              <a:rPr lang="en-US" sz="2400" dirty="0"/>
              <a:t>Access conditions – Can you simply download the data, or do you need to be granted access? </a:t>
            </a:r>
          </a:p>
          <a:p>
            <a:r>
              <a:rPr lang="en-US" sz="2400" dirty="0"/>
              <a:t>Licenses – After downloading the data, what are you allowed to do with it?</a:t>
            </a:r>
          </a:p>
          <a:p>
            <a:r>
              <a:rPr lang="en-US" sz="2400" dirty="0"/>
              <a:t>Embargo's – Can you download the data immediately?</a:t>
            </a:r>
          </a:p>
          <a:p>
            <a:endParaRPr lang="nl-NL" dirty="0"/>
          </a:p>
        </p:txBody>
      </p:sp>
      <p:pic>
        <p:nvPicPr>
          <p:cNvPr id="3" name="Graphic 2" descr="Employee badge outline">
            <a:extLst>
              <a:ext uri="{FF2B5EF4-FFF2-40B4-BE49-F238E27FC236}">
                <a16:creationId xmlns:a16="http://schemas.microsoft.com/office/drawing/2014/main" id="{4178B107-966E-7029-72C4-7BDD19483E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8999" y="4871342"/>
            <a:ext cx="914400" cy="914400"/>
          </a:xfrm>
          <a:prstGeom prst="rect">
            <a:avLst/>
          </a:prstGeom>
        </p:spPr>
      </p:pic>
      <p:pic>
        <p:nvPicPr>
          <p:cNvPr id="8" name="Graphic 7" descr="Key outline">
            <a:extLst>
              <a:ext uri="{FF2B5EF4-FFF2-40B4-BE49-F238E27FC236}">
                <a16:creationId xmlns:a16="http://schemas.microsoft.com/office/drawing/2014/main" id="{3CE4366B-732B-109B-A5D4-F37C5FABD2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44007" y="4907099"/>
            <a:ext cx="914400" cy="914400"/>
          </a:xfrm>
          <a:prstGeom prst="rect">
            <a:avLst/>
          </a:prstGeom>
        </p:spPr>
      </p:pic>
      <p:pic>
        <p:nvPicPr>
          <p:cNvPr id="10" name="Graphic 9" descr="Clock outline">
            <a:extLst>
              <a:ext uri="{FF2B5EF4-FFF2-40B4-BE49-F238E27FC236}">
                <a16:creationId xmlns:a16="http://schemas.microsoft.com/office/drawing/2014/main" id="{3919AB48-6686-B31A-3DC6-0118B286C8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0863" y="4871342"/>
            <a:ext cx="914400" cy="914400"/>
          </a:xfrm>
          <a:prstGeom prst="rect">
            <a:avLst/>
          </a:prstGeom>
        </p:spPr>
      </p:pic>
      <p:pic>
        <p:nvPicPr>
          <p:cNvPr id="12" name="Graphic 11" descr="Blog outline">
            <a:extLst>
              <a:ext uri="{FF2B5EF4-FFF2-40B4-BE49-F238E27FC236}">
                <a16:creationId xmlns:a16="http://schemas.microsoft.com/office/drawing/2014/main" id="{E75CBB35-F0D2-7D7A-AC53-DAD058EBCB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5928" y="487134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872175"/>
      </p:ext>
    </p:extLst>
  </p:cSld>
  <p:clrMapOvr>
    <a:masterClrMapping/>
  </p:clrMapOvr>
  <p:transition spd="slow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E401D-4BF0-E933-93E9-DC53DE06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verticale tekst 6">
            <a:extLst>
              <a:ext uri="{FF2B5EF4-FFF2-40B4-BE49-F238E27FC236}">
                <a16:creationId xmlns:a16="http://schemas.microsoft.com/office/drawing/2014/main" id="{044A981F-060A-C81E-9A4C-C7E75DB64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04662" y="1493701"/>
            <a:ext cx="11311137" cy="4795836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 algn="l" fontAlgn="base">
              <a:spcAft>
                <a:spcPts val="1500"/>
              </a:spcAft>
              <a:buNone/>
            </a:pPr>
            <a:endParaRPr lang="en-GB" sz="4400" b="1" i="1" dirty="0">
              <a:solidFill>
                <a:srgbClr val="0A0A0A"/>
              </a:solidFill>
              <a:effectLst/>
              <a:latin typeface="Playfair Display" panose="020F0502020204030204" pitchFamily="2" charset="0"/>
            </a:endParaRPr>
          </a:p>
          <a:p>
            <a:pPr marL="0" indent="0" fontAlgn="base">
              <a:spcAft>
                <a:spcPts val="1500"/>
              </a:spcAft>
              <a:buNone/>
            </a:pPr>
            <a:r>
              <a:rPr lang="en-GB" sz="4800" b="1" i="1" dirty="0">
                <a:solidFill>
                  <a:srgbClr val="0A0A0A"/>
                </a:solidFill>
                <a:effectLst/>
                <a:latin typeface="+mj-lt"/>
              </a:rPr>
              <a:t>“As open as possible, </a:t>
            </a:r>
          </a:p>
          <a:p>
            <a:pPr marL="0" indent="0" algn="r" fontAlgn="base">
              <a:spcAft>
                <a:spcPts val="1500"/>
              </a:spcAft>
              <a:buNone/>
            </a:pPr>
            <a:r>
              <a:rPr lang="en-GB" sz="4800" b="1" i="1" dirty="0">
                <a:solidFill>
                  <a:srgbClr val="0A0A0A"/>
                </a:solidFill>
                <a:effectLst/>
                <a:latin typeface="+mj-lt"/>
              </a:rPr>
              <a:t>as closed as necessary”</a:t>
            </a:r>
          </a:p>
          <a:p>
            <a:pPr marL="0" indent="0" algn="l" fontAlgn="base">
              <a:spcAft>
                <a:spcPts val="1500"/>
              </a:spcAft>
              <a:buNone/>
            </a:pPr>
            <a:endParaRPr lang="en-GB" sz="3600" b="1" i="1" dirty="0">
              <a:solidFill>
                <a:srgbClr val="0A0A0A"/>
              </a:solidFill>
              <a:effectLst/>
              <a:latin typeface="Playfair Display" panose="020F0502020204030204" pitchFamily="2" charset="0"/>
            </a:endParaRPr>
          </a:p>
          <a:p>
            <a:endParaRPr lang="nl-NL" dirty="0"/>
          </a:p>
        </p:txBody>
      </p:sp>
      <p:pic>
        <p:nvPicPr>
          <p:cNvPr id="4" name="Graphic 3" descr="Employee badge with solid fill">
            <a:extLst>
              <a:ext uri="{FF2B5EF4-FFF2-40B4-BE49-F238E27FC236}">
                <a16:creationId xmlns:a16="http://schemas.microsoft.com/office/drawing/2014/main" id="{A949EB42-5A9E-E381-4D98-3059C79EE0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6687" y="4797152"/>
            <a:ext cx="914400" cy="914400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E8381BB6-DBFC-2F2C-61D1-249AEE49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5</a:t>
            </a:r>
            <a:r>
              <a:rPr lang="nl-NL" sz="4000" dirty="0"/>
              <a:t>. Privacy </a:t>
            </a:r>
            <a:r>
              <a:rPr lang="nl-NL" dirty="0"/>
              <a:t>and sensitive data</a:t>
            </a:r>
          </a:p>
        </p:txBody>
      </p:sp>
    </p:spTree>
    <p:extLst>
      <p:ext uri="{BB962C8B-B14F-4D97-AF65-F5344CB8AC3E}">
        <p14:creationId xmlns:p14="http://schemas.microsoft.com/office/powerpoint/2010/main" val="1388543113"/>
      </p:ext>
    </p:extLst>
  </p:cSld>
  <p:clrMapOvr>
    <a:masterClrMapping/>
  </p:clrMapOvr>
  <p:transition spd="slow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D663-06D8-07AE-ED49-0BC8768F3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79" y="277243"/>
            <a:ext cx="10746746" cy="705485"/>
          </a:xfrm>
        </p:spPr>
        <p:txBody>
          <a:bodyPr/>
          <a:lstStyle/>
          <a:p>
            <a:r>
              <a:rPr lang="en-GB" sz="3200" dirty="0">
                <a:cs typeface="Times New Roman"/>
              </a:rPr>
              <a:t>Leave out/change sensitive or identifiable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8C363-4A9D-B9FA-675D-BC1412F4F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7076" y="1254125"/>
            <a:ext cx="10762645" cy="50244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+mj-lt"/>
                <a:ea typeface="Calibri"/>
                <a:cs typeface="Calibri"/>
              </a:rPr>
              <a:t>To </a:t>
            </a:r>
            <a:r>
              <a:rPr lang="en-US" sz="2200" dirty="0">
                <a:solidFill>
                  <a:srgbClr val="FF0000"/>
                </a:solidFill>
                <a:latin typeface="+mj-lt"/>
                <a:ea typeface="Calibri"/>
                <a:cs typeface="Calibri"/>
              </a:rPr>
              <a:t>protect </a:t>
            </a:r>
            <a:r>
              <a:rPr lang="en-US" sz="2200" dirty="0">
                <a:latin typeface="+mj-lt"/>
                <a:ea typeface="Calibri"/>
                <a:cs typeface="Calibri"/>
              </a:rPr>
              <a:t>your participants' privacy, don't </a:t>
            </a:r>
            <a:r>
              <a:rPr lang="en-US" sz="2200" dirty="0">
                <a:latin typeface="+mj-lt"/>
                <a:ea typeface="+mn-lt"/>
                <a:cs typeface="+mn-lt"/>
              </a:rPr>
              <a:t>include:</a:t>
            </a:r>
            <a:endParaRPr lang="en-US" sz="2200" dirty="0">
              <a:latin typeface="+mj-lt"/>
              <a:ea typeface="Calibri"/>
              <a:cs typeface="Calibri"/>
            </a:endParaRPr>
          </a:p>
          <a:p>
            <a:pPr marL="1085850" lvl="1" indent="-342900"/>
            <a:r>
              <a:rPr lang="en-US" sz="2200" dirty="0">
                <a:latin typeface="+mj-lt"/>
                <a:ea typeface="+mn-lt"/>
                <a:cs typeface="+mn-lt"/>
              </a:rPr>
              <a:t>Participant's names, email addresses, etc.</a:t>
            </a:r>
          </a:p>
          <a:p>
            <a:pPr marL="1085850" lvl="1" indent="-342900"/>
            <a:r>
              <a:rPr lang="en-US" sz="2200" dirty="0">
                <a:latin typeface="+mj-lt"/>
                <a:ea typeface="+mn-lt"/>
                <a:cs typeface="+mn-lt"/>
              </a:rPr>
              <a:t>Conversion key (document that links participants to their code)</a:t>
            </a:r>
          </a:p>
          <a:p>
            <a:pPr marL="1085850" lvl="1" indent="-342900"/>
            <a:r>
              <a:rPr lang="en-US" sz="2200" dirty="0">
                <a:latin typeface="+mj-lt"/>
                <a:ea typeface="+mn-lt"/>
                <a:cs typeface="+mn-lt"/>
              </a:rPr>
              <a:t>Videos or photographs of participants (in most cases)</a:t>
            </a:r>
          </a:p>
          <a:p>
            <a:pPr marL="1085850" lvl="1" indent="-342900"/>
            <a:r>
              <a:rPr lang="en-US" sz="2200" dirty="0">
                <a:latin typeface="+mj-lt"/>
                <a:ea typeface="+mn-lt"/>
                <a:cs typeface="+mn-lt"/>
              </a:rPr>
              <a:t>In-depth interviews that cannot be de-identified</a:t>
            </a:r>
          </a:p>
          <a:p>
            <a:pPr marL="0" indent="0">
              <a:buNone/>
            </a:pPr>
            <a:r>
              <a:rPr lang="en-US" sz="2200" dirty="0">
                <a:latin typeface="+mj-lt"/>
                <a:ea typeface="+mn-lt"/>
                <a:cs typeface="+mn-lt"/>
              </a:rPr>
              <a:t>Make the data </a:t>
            </a:r>
            <a:r>
              <a:rPr lang="en-US" sz="2200" dirty="0">
                <a:solidFill>
                  <a:srgbClr val="FF0000"/>
                </a:solidFill>
                <a:latin typeface="+mj-lt"/>
                <a:ea typeface="+mn-lt"/>
                <a:cs typeface="+mn-lt"/>
              </a:rPr>
              <a:t>less sensitive</a:t>
            </a:r>
            <a:r>
              <a:rPr lang="en-US" sz="2200" dirty="0">
                <a:latin typeface="+mj-lt"/>
                <a:ea typeface="+mn-lt"/>
                <a:cs typeface="+mn-lt"/>
              </a:rPr>
              <a:t>:</a:t>
            </a:r>
          </a:p>
          <a:p>
            <a:pPr marL="1085850" lvl="1" indent="-342900"/>
            <a:r>
              <a:rPr lang="en-US" sz="2200" dirty="0">
                <a:latin typeface="+mj-lt"/>
                <a:ea typeface="+mn-lt"/>
                <a:cs typeface="+mn-lt"/>
              </a:rPr>
              <a:t>Age instead of date of birth, age categories instead of absolute age </a:t>
            </a:r>
          </a:p>
          <a:p>
            <a:pPr marL="1085850" lvl="1" indent="-342900"/>
            <a:r>
              <a:rPr lang="en-US" sz="2200" dirty="0">
                <a:latin typeface="+mj-lt"/>
                <a:ea typeface="+mn-lt"/>
                <a:cs typeface="+mn-lt"/>
              </a:rPr>
              <a:t>Transcripts instead of video/audio files</a:t>
            </a:r>
          </a:p>
          <a:p>
            <a:pPr marL="1085850" lvl="1" indent="-342900"/>
            <a:r>
              <a:rPr lang="en-US" sz="2200" dirty="0">
                <a:latin typeface="+mj-lt"/>
                <a:ea typeface="+mn-lt"/>
                <a:cs typeface="+mn-lt"/>
              </a:rPr>
              <a:t>Deface MRI images </a:t>
            </a:r>
            <a:endParaRPr lang="nl-NL" sz="2400" dirty="0">
              <a:latin typeface="+mj-lt"/>
              <a:ea typeface="+mn-lt"/>
              <a:cs typeface="Calibri" panose="020F0502020204030204"/>
            </a:endParaRPr>
          </a:p>
          <a:p>
            <a:pPr marL="1085850" lvl="1" indent="-342900"/>
            <a:r>
              <a:rPr lang="en-US" sz="2200" dirty="0">
                <a:latin typeface="+mj-lt"/>
                <a:ea typeface="+mn-lt"/>
                <a:cs typeface="+mn-lt"/>
              </a:rPr>
              <a:t>If possible, remove identifiable variables</a:t>
            </a:r>
            <a:r>
              <a:rPr lang="en-US" sz="2800" dirty="0">
                <a:latin typeface="+mj-lt"/>
                <a:ea typeface="+mn-lt"/>
                <a:cs typeface="+mn-lt"/>
              </a:rPr>
              <a:t> </a:t>
            </a:r>
            <a:endParaRPr lang="nl-NL" sz="2400" dirty="0"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6868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AF97C9-188B-5B94-EF5C-2E0CD83C89F2}"/>
              </a:ext>
            </a:extLst>
          </p:cNvPr>
          <p:cNvGraphicFramePr>
            <a:graphicFrameLocks noGrp="1"/>
          </p:cNvGraphicFramePr>
          <p:nvPr/>
        </p:nvGraphicFramePr>
        <p:xfrm>
          <a:off x="554559" y="548680"/>
          <a:ext cx="11089232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344">
                  <a:extLst>
                    <a:ext uri="{9D8B030D-6E8A-4147-A177-3AD203B41FA5}">
                      <a16:colId xmlns:a16="http://schemas.microsoft.com/office/drawing/2014/main" val="3003213727"/>
                    </a:ext>
                  </a:extLst>
                </a:gridCol>
                <a:gridCol w="7992888">
                  <a:extLst>
                    <a:ext uri="{9D8B030D-6E8A-4147-A177-3AD203B41FA5}">
                      <a16:colId xmlns:a16="http://schemas.microsoft.com/office/drawing/2014/main" val="1801379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Access levels</a:t>
                      </a:r>
                      <a:endParaRPr lang="nl-NL" sz="3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sz="2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1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bg2"/>
                          </a:solidFill>
                        </a:rPr>
                        <a:t>Open</a:t>
                      </a:r>
                      <a:endParaRPr lang="nl-NL" sz="20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Everyone can download, open access</a:t>
                      </a:r>
                      <a:endParaRPr lang="nl-NL" sz="20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591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bg2"/>
                          </a:solidFill>
                        </a:rPr>
                        <a:t>Closed</a:t>
                      </a:r>
                      <a:endParaRPr lang="nl-NL" sz="20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Not for download, the data is only uploaded for archiving and integrity purposes</a:t>
                      </a:r>
                      <a:endParaRPr lang="nl-NL" sz="2000" noProof="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263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bg2"/>
                          </a:solidFill>
                        </a:rPr>
                        <a:t>Upon request/ limited</a:t>
                      </a:r>
                      <a:endParaRPr lang="nl-NL" sz="20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2000" kern="1200" dirty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You can request access to the data. The original researchers may want to discuss the conditions for sharing the data, such as: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Submitting a research plan,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Using the data only for research or educational purposes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Destroying the data after use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Etc.</a:t>
                      </a:r>
                    </a:p>
                    <a:p>
                      <a:endParaRPr lang="en-US" sz="2000" dirty="0">
                        <a:solidFill>
                          <a:schemeClr val="bg2"/>
                        </a:solidFill>
                      </a:endParaRPr>
                    </a:p>
                    <a:p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It is likely necessary to set up a Data Sharing Agreement before the data can be shared. </a:t>
                      </a:r>
                      <a:endParaRPr lang="nl-NL" sz="20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457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295522"/>
      </p:ext>
    </p:extLst>
  </p:cSld>
  <p:clrMapOvr>
    <a:masterClrMapping/>
  </p:clrMapOvr>
  <p:transition spd="slow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7AF9-C485-FAA3-ECDE-0B3BC6FE8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6FF9D7-2F4C-253A-81F3-3EF6B8E4470A}"/>
              </a:ext>
            </a:extLst>
          </p:cNvPr>
          <p:cNvSpPr txBox="1"/>
          <p:nvPr/>
        </p:nvSpPr>
        <p:spPr>
          <a:xfrm>
            <a:off x="383561" y="1052736"/>
            <a:ext cx="11260229" cy="5940039"/>
          </a:xfrm>
          <a:prstGeom prst="rect">
            <a:avLst/>
          </a:prstGeom>
          <a:noFill/>
        </p:spPr>
        <p:txBody>
          <a:bodyPr wrap="square" lIns="91392" tIns="45696" rIns="91392" bIns="45696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  <a:latin typeface="+mj-lt"/>
            </a:endParaRPr>
          </a:p>
          <a:p>
            <a:r>
              <a:rPr lang="en-US" sz="2800" dirty="0">
                <a:solidFill>
                  <a:schemeClr val="bg2"/>
                </a:solidFill>
                <a:latin typeface="+mj-lt"/>
              </a:rPr>
              <a:t>Other reasons your data can be sensitive:</a:t>
            </a:r>
          </a:p>
          <a:p>
            <a:pPr marL="457200" indent="-457200">
              <a:buFont typeface="Arial,Sans-Serif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  <a:latin typeface="+mj-lt"/>
            </a:endParaRPr>
          </a:p>
          <a:p>
            <a:pPr marL="1371600" lvl="2" indent="-457200">
              <a:buFont typeface="Arial,Sans-Serif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Company secrets</a:t>
            </a:r>
          </a:p>
          <a:p>
            <a:pPr marL="1371600" lvl="2" indent="-457200">
              <a:buFont typeface="Arial,Sans-Serif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Knowledge security</a:t>
            </a:r>
          </a:p>
          <a:p>
            <a:pPr marL="1828800" lvl="3" indent="-457200">
              <a:buFont typeface="Arial,Sans-Serif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=Preventing unwanted transfer of sensitive knowledge and technology</a:t>
            </a:r>
          </a:p>
          <a:p>
            <a:pPr marL="1828800" lvl="3" indent="-457200">
              <a:buFont typeface="Arial,Sans-Serif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E.g., nuclear secrets to Iran</a:t>
            </a:r>
          </a:p>
          <a:p>
            <a:pPr marL="1828800" lvl="3" indent="-457200">
              <a:buFont typeface="Arial,Sans-Serif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E.g., can your civilian research also be used for military purposes? (dual use) </a:t>
            </a:r>
          </a:p>
          <a:p>
            <a:pPr marL="1371600" lvl="2" indent="-457200">
              <a:buFont typeface="Arial,Sans-Serif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+mj-lt"/>
              </a:rPr>
              <a:t>?</a:t>
            </a:r>
          </a:p>
          <a:p>
            <a:pPr marL="1371600" lvl="2" indent="-457200">
              <a:buFont typeface="Arial,Sans-Serif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+mj-lt"/>
            </a:endParaRPr>
          </a:p>
          <a:p>
            <a:pPr lvl="2"/>
            <a:endParaRPr lang="en-US" sz="2400" dirty="0">
              <a:solidFill>
                <a:schemeClr val="bg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7" name="Titel 5">
            <a:extLst>
              <a:ext uri="{FF2B5EF4-FFF2-40B4-BE49-F238E27FC236}">
                <a16:creationId xmlns:a16="http://schemas.microsoft.com/office/drawing/2014/main" id="{590C6716-9ECB-470F-ADDB-5F38A2668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58" y="620907"/>
            <a:ext cx="11793689" cy="432048"/>
          </a:xfrm>
        </p:spPr>
        <p:txBody>
          <a:bodyPr/>
          <a:lstStyle/>
          <a:p>
            <a:r>
              <a:rPr lang="en-US" sz="3200" dirty="0"/>
              <a:t>5. Privacy and Sensitive data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79688800"/>
      </p:ext>
    </p:extLst>
  </p:cSld>
  <p:clrMapOvr>
    <a:masterClrMapping/>
  </p:clrMapOvr>
  <p:transition spd="slow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58C36-E636-CEF5-6C32-9F1F29A2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4485DFD-1EDF-9F4B-B491-432CD6EBC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61" y="404664"/>
            <a:ext cx="11793689" cy="432048"/>
          </a:xfrm>
        </p:spPr>
        <p:txBody>
          <a:bodyPr/>
          <a:lstStyle/>
          <a:p>
            <a:r>
              <a:rPr lang="en-GB" sz="4000" dirty="0"/>
              <a:t>6. </a:t>
            </a:r>
            <a:r>
              <a:rPr lang="nl-NL" sz="4000" dirty="0">
                <a:ea typeface="+mj-lt"/>
                <a:cs typeface="+mj-lt"/>
              </a:rPr>
              <a:t>Difficulties</a:t>
            </a:r>
            <a:endParaRPr lang="nl-NL" sz="3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A2B508-F864-EF8F-9812-1507B9BBDCF7}"/>
              </a:ext>
            </a:extLst>
          </p:cNvPr>
          <p:cNvSpPr txBox="1"/>
          <p:nvPr/>
        </p:nvSpPr>
        <p:spPr>
          <a:xfrm>
            <a:off x="383562" y="1406429"/>
            <a:ext cx="11332238" cy="4401156"/>
          </a:xfrm>
          <a:prstGeom prst="rect">
            <a:avLst/>
          </a:prstGeom>
          <a:noFill/>
        </p:spPr>
        <p:txBody>
          <a:bodyPr wrap="square" lIns="91392" tIns="45696" rIns="91392" bIns="45696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Checking and uploading publication packages takes me a lot of time, especially if it requires emailing back and forth with researchers.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Researchers do not have time.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Difficult to get on overview of how often researchers are (not) making a publication package when they ought to.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</a:endParaRPr>
          </a:p>
          <a:p>
            <a:endParaRPr lang="nl-NL" sz="28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94580967"/>
      </p:ext>
    </p:extLst>
  </p:cSld>
  <p:clrMapOvr>
    <a:masterClrMapping/>
  </p:clrMapOvr>
  <p:transition spd="slow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7A69D-14A7-1C0E-4322-8BB1F7AB2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5D60EBA-2712-59EA-DB8E-6F7068618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61" y="404664"/>
            <a:ext cx="11793689" cy="432048"/>
          </a:xfrm>
        </p:spPr>
        <p:txBody>
          <a:bodyPr/>
          <a:lstStyle/>
          <a:p>
            <a:r>
              <a:rPr lang="en-GB" sz="4000" dirty="0"/>
              <a:t>6. </a:t>
            </a:r>
            <a:r>
              <a:rPr lang="nl-NL" sz="4000" dirty="0">
                <a:ea typeface="+mj-lt"/>
                <a:cs typeface="+mj-lt"/>
              </a:rPr>
              <a:t>Difficulties</a:t>
            </a:r>
            <a:endParaRPr lang="nl-NL" sz="3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8ACC77-7EF3-26DD-DF27-1DEB49A7C5EB}"/>
              </a:ext>
            </a:extLst>
          </p:cNvPr>
          <p:cNvSpPr txBox="1"/>
          <p:nvPr/>
        </p:nvSpPr>
        <p:spPr>
          <a:xfrm>
            <a:off x="383562" y="1406429"/>
            <a:ext cx="11332238" cy="4339601"/>
          </a:xfrm>
          <a:prstGeom prst="rect">
            <a:avLst/>
          </a:prstGeom>
          <a:noFill/>
        </p:spPr>
        <p:txBody>
          <a:bodyPr wrap="square" lIns="91392" tIns="45696" rIns="91392" bIns="45696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Scary – Mistakes can be found, data breaches can occur.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Quality of publication packages varies. </a:t>
            </a:r>
          </a:p>
          <a:p>
            <a:r>
              <a:rPr lang="en-US" sz="2400" dirty="0">
                <a:solidFill>
                  <a:srgbClr val="002060"/>
                </a:solidFill>
                <a:ea typeface="Calibri"/>
                <a:cs typeface="Calibri"/>
              </a:rPr>
              <a:t>e.g., low quality meta-data: Unclear variable names or labels. No codebook.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Qualitative data are difficult to share.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Reusing data can be challenging:</a:t>
            </a:r>
          </a:p>
          <a:p>
            <a:endParaRPr lang="nl-NL" sz="28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86476180"/>
      </p:ext>
    </p:extLst>
  </p:cSld>
  <p:clrMapOvr>
    <a:masterClrMapping/>
  </p:clrMapOvr>
  <p:transition spd="slow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F35EE-2CC6-1578-1FE3-BD610F520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CDAE4653-AD5D-46B9-D028-A5B5E06BF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61" y="404664"/>
            <a:ext cx="11793689" cy="432048"/>
          </a:xfrm>
        </p:spPr>
        <p:txBody>
          <a:bodyPr/>
          <a:lstStyle/>
          <a:p>
            <a:r>
              <a:rPr lang="en-GB" sz="4000" dirty="0"/>
              <a:t>6. </a:t>
            </a:r>
            <a:r>
              <a:rPr lang="nl-NL" sz="4000" dirty="0">
                <a:ea typeface="+mj-lt"/>
                <a:cs typeface="+mj-lt"/>
              </a:rPr>
              <a:t>Difficulties</a:t>
            </a:r>
            <a:endParaRPr lang="nl-NL" sz="3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B88F9-B9E4-808A-E9B2-6BD38C632766}"/>
              </a:ext>
            </a:extLst>
          </p:cNvPr>
          <p:cNvSpPr txBox="1"/>
          <p:nvPr/>
        </p:nvSpPr>
        <p:spPr>
          <a:xfrm>
            <a:off x="383562" y="1052736"/>
            <a:ext cx="11332238" cy="4893599"/>
          </a:xfrm>
          <a:prstGeom prst="rect">
            <a:avLst/>
          </a:prstGeom>
          <a:noFill/>
        </p:spPr>
        <p:txBody>
          <a:bodyPr wrap="square" lIns="91392" tIns="45696" rIns="91392" bIns="45696" rtlCol="0" anchor="t">
            <a:spAutoFit/>
          </a:bodyPr>
          <a:lstStyle/>
          <a:p>
            <a:pPr marL="0" indent="0">
              <a:buNone/>
            </a:pPr>
            <a:r>
              <a:rPr lang="en-US" sz="2400" b="1" dirty="0">
                <a:cs typeface="Calibri"/>
              </a:rPr>
              <a:t>Reusing data: </a:t>
            </a:r>
          </a:p>
          <a:p>
            <a:endParaRPr lang="en-US" sz="2400" b="1" dirty="0">
              <a:cs typeface="Calibri"/>
            </a:endParaRPr>
          </a:p>
          <a:p>
            <a:r>
              <a:rPr lang="en-US" sz="2400" dirty="0">
                <a:cs typeface="Calibri"/>
              </a:rPr>
              <a:t>There is inevitably a loss of information when data are taken out of their context.</a:t>
            </a:r>
          </a:p>
          <a:p>
            <a:endParaRPr lang="en-US" sz="2400" dirty="0">
              <a:cs typeface="Calibri"/>
            </a:endParaRPr>
          </a:p>
          <a:p>
            <a:r>
              <a:rPr lang="nl-NL" sz="2400" dirty="0">
                <a:cs typeface="Calibri"/>
              </a:rPr>
              <a:t>Trust: Can you be sure that the data are reliable?</a:t>
            </a:r>
          </a:p>
          <a:p>
            <a:endParaRPr lang="en-US" sz="2400" dirty="0">
              <a:cs typeface="Calibri"/>
            </a:endParaRPr>
          </a:p>
          <a:p>
            <a:r>
              <a:rPr lang="en-US" sz="2400" dirty="0">
                <a:cs typeface="Calibri"/>
              </a:rPr>
              <a:t>Technical difficulties: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cs typeface="Calibri"/>
              </a:rPr>
              <a:t>File formats that are unknown, software-specific, or outdated.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cs typeface="Calibri"/>
              </a:rPr>
              <a:t>Corrupted 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cs typeface="Calibri"/>
              </a:rPr>
              <a:t>Broken links.</a:t>
            </a:r>
            <a:endParaRPr lang="en-US" sz="2400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ea typeface="Calibri"/>
              <a:cs typeface="Calibri"/>
            </a:endParaRPr>
          </a:p>
          <a:p>
            <a:endParaRPr lang="nl-NL" sz="2400" dirty="0">
              <a:solidFill>
                <a:schemeClr val="bg2"/>
              </a:solidFill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6EF8EDCE-F849-7C25-2F94-352EFC55B08C}"/>
              </a:ext>
            </a:extLst>
          </p:cNvPr>
          <p:cNvSpPr txBox="1"/>
          <p:nvPr/>
        </p:nvSpPr>
        <p:spPr>
          <a:xfrm>
            <a:off x="9463609" y="4654817"/>
            <a:ext cx="2737410" cy="16619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NL" sz="1200" dirty="0"/>
              <a:t>References:</a:t>
            </a:r>
            <a:br>
              <a:rPr lang="nl-NL" sz="1200" dirty="0"/>
            </a:br>
            <a:r>
              <a:rPr lang="nl-NL" sz="1200" dirty="0"/>
              <a:t>Peter Verhaar: </a:t>
            </a:r>
            <a:r>
              <a:rPr lang="en-US" sz="1200" dirty="0"/>
              <a:t>Data Reuse Day</a:t>
            </a:r>
            <a:endParaRPr lang="nl-NL" sz="1200" dirty="0"/>
          </a:p>
          <a:p>
            <a:endParaRPr lang="nl-NL" sz="1200" dirty="0"/>
          </a:p>
          <a:p>
            <a:r>
              <a:rPr lang="nl-NL" sz="1200" dirty="0"/>
              <a:t>Koellinger, P.. (2023): FAIR Dat. </a:t>
            </a:r>
            <a:r>
              <a:rPr lang="nl-NL" sz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https://dpid.org/247/v3/root/Presentation.pdf</a:t>
            </a:r>
            <a:r>
              <a:rPr lang="nl-NL" sz="1200" dirty="0"/>
              <a:t> </a:t>
            </a:r>
            <a:endParaRPr lang="en-US" sz="1200" dirty="0">
              <a:solidFill>
                <a:schemeClr val="bg2"/>
              </a:solidFill>
              <a:highlight>
                <a:srgbClr val="FFFF00"/>
              </a:highlight>
              <a:ea typeface="Calibri"/>
              <a:cs typeface="Calibri"/>
            </a:endParaRPr>
          </a:p>
          <a:p>
            <a:br>
              <a:rPr lang="nl-NL" dirty="0"/>
            </a:br>
            <a:endParaRPr lang="nl-NL" sz="1200" dirty="0"/>
          </a:p>
        </p:txBody>
      </p:sp>
    </p:spTree>
    <p:extLst>
      <p:ext uri="{BB962C8B-B14F-4D97-AF65-F5344CB8AC3E}">
        <p14:creationId xmlns:p14="http://schemas.microsoft.com/office/powerpoint/2010/main" val="1154320122"/>
      </p:ext>
    </p:extLst>
  </p:cSld>
  <p:clrMapOvr>
    <a:masterClrMapping/>
  </p:clrMapOvr>
  <p:transition spd="slow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901FF-D1D2-98A6-917D-B8940505C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A747130-D3FE-D8C4-DAEB-B2A5240DC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61" y="404664"/>
            <a:ext cx="11793689" cy="432048"/>
          </a:xfrm>
        </p:spPr>
        <p:txBody>
          <a:bodyPr/>
          <a:lstStyle/>
          <a:p>
            <a:r>
              <a:rPr lang="en-GB" sz="4000" dirty="0"/>
              <a:t>6. </a:t>
            </a:r>
            <a:r>
              <a:rPr lang="nl-NL" sz="4000" dirty="0">
                <a:ea typeface="+mj-lt"/>
                <a:cs typeface="+mj-lt"/>
              </a:rPr>
              <a:t>Difficulties</a:t>
            </a:r>
            <a:endParaRPr lang="nl-NL" sz="3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A35D0F-85DB-02A8-FBA8-65A8BC03F655}"/>
              </a:ext>
            </a:extLst>
          </p:cNvPr>
          <p:cNvSpPr txBox="1"/>
          <p:nvPr/>
        </p:nvSpPr>
        <p:spPr>
          <a:xfrm>
            <a:off x="383562" y="1052736"/>
            <a:ext cx="11332238" cy="5570707"/>
          </a:xfrm>
          <a:prstGeom prst="rect">
            <a:avLst/>
          </a:prstGeom>
          <a:noFill/>
        </p:spPr>
        <p:txBody>
          <a:bodyPr wrap="square" lIns="91392" tIns="45696" rIns="91392" bIns="45696" rtlCol="0" anchor="t">
            <a:spAutoFit/>
          </a:bodyPr>
          <a:lstStyle/>
          <a:p>
            <a:pPr marL="0" indent="0">
              <a:buNone/>
            </a:pPr>
            <a:r>
              <a:rPr lang="en-US" sz="2400" b="1" dirty="0">
                <a:cs typeface="Calibri"/>
              </a:rPr>
              <a:t>Reusing data: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r>
              <a:rPr lang="en-US" sz="2400" dirty="0">
                <a:ea typeface="Calibri"/>
                <a:cs typeface="Calibri"/>
              </a:rPr>
              <a:t>Copyright issues or incompatible licenses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r>
              <a:rPr lang="en-US" sz="2400" dirty="0">
                <a:ea typeface="Calibri"/>
                <a:cs typeface="Calibri"/>
              </a:rPr>
              <a:t>“Data available upon request”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ea typeface="Calibri"/>
                <a:cs typeface="Calibri"/>
              </a:rPr>
              <a:t>No response from the authors.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ea typeface="Calibri"/>
                <a:cs typeface="Calibri"/>
              </a:rPr>
              <a:t>Authors can't find their data or don't have access anymore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ea typeface="Calibri"/>
                <a:cs typeface="Calibri"/>
              </a:rPr>
              <a:t>Wrong version of the data.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pPr lvl="1"/>
            <a:endParaRPr lang="en-US" sz="2400" dirty="0">
              <a:ea typeface="Calibri"/>
              <a:cs typeface="Calibri"/>
            </a:endParaRPr>
          </a:p>
          <a:p>
            <a:r>
              <a:rPr lang="en-US" sz="2400" dirty="0">
                <a:ea typeface="Calibri"/>
                <a:cs typeface="Calibri"/>
              </a:rPr>
              <a:t>Legal agreements required before sharing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ea typeface="Calibri"/>
              <a:cs typeface="Calibri"/>
            </a:endParaRPr>
          </a:p>
          <a:p>
            <a:endParaRPr lang="nl-NL" sz="2400" dirty="0">
              <a:solidFill>
                <a:schemeClr val="bg2"/>
              </a:solidFill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B2F27240-4E14-26B0-EB5F-89F798CC22B2}"/>
              </a:ext>
            </a:extLst>
          </p:cNvPr>
          <p:cNvSpPr txBox="1"/>
          <p:nvPr/>
        </p:nvSpPr>
        <p:spPr>
          <a:xfrm>
            <a:off x="9473912" y="4757790"/>
            <a:ext cx="2737410" cy="16619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NL" sz="1200" dirty="0"/>
              <a:t>References:</a:t>
            </a:r>
            <a:br>
              <a:rPr lang="nl-NL" sz="1200" dirty="0"/>
            </a:br>
            <a:r>
              <a:rPr lang="nl-NL" sz="1200" dirty="0"/>
              <a:t>Peter Verhaar: </a:t>
            </a:r>
            <a:r>
              <a:rPr lang="en-US" sz="1200" dirty="0"/>
              <a:t>Data Reuse Day</a:t>
            </a:r>
            <a:endParaRPr lang="nl-NL" sz="1200" dirty="0"/>
          </a:p>
          <a:p>
            <a:endParaRPr lang="nl-NL" sz="1200" dirty="0"/>
          </a:p>
          <a:p>
            <a:r>
              <a:rPr lang="nl-NL" sz="1200" dirty="0"/>
              <a:t>Koellinger, P.. (2023): FAIR Dat. </a:t>
            </a:r>
            <a:r>
              <a:rPr lang="nl-NL" sz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https://dpid.org/247/v3/root/Presentation.pdf</a:t>
            </a:r>
            <a:r>
              <a:rPr lang="nl-NL" sz="1200" dirty="0"/>
              <a:t> </a:t>
            </a:r>
            <a:endParaRPr lang="en-US" sz="1200" dirty="0">
              <a:solidFill>
                <a:schemeClr val="bg2"/>
              </a:solidFill>
              <a:highlight>
                <a:srgbClr val="FFFF00"/>
              </a:highlight>
              <a:ea typeface="Calibri"/>
              <a:cs typeface="Calibri"/>
            </a:endParaRPr>
          </a:p>
          <a:p>
            <a:br>
              <a:rPr lang="nl-NL" dirty="0"/>
            </a:br>
            <a:endParaRPr lang="nl-NL" sz="1200" dirty="0"/>
          </a:p>
        </p:txBody>
      </p:sp>
    </p:spTree>
    <p:extLst>
      <p:ext uri="{BB962C8B-B14F-4D97-AF65-F5344CB8AC3E}">
        <p14:creationId xmlns:p14="http://schemas.microsoft.com/office/powerpoint/2010/main" val="3329348453"/>
      </p:ext>
    </p:extLst>
  </p:cSld>
  <p:clrMapOvr>
    <a:masterClrMapping/>
  </p:clrMapOvr>
  <p:transition spd="slow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467F0-B859-80E3-99A5-B6C0A2430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0B9BCBB-3F11-7BEE-D5FF-F54E63527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61" y="404664"/>
            <a:ext cx="11793689" cy="432048"/>
          </a:xfrm>
        </p:spPr>
        <p:txBody>
          <a:bodyPr/>
          <a:lstStyle/>
          <a:p>
            <a:r>
              <a:rPr lang="en-GB" sz="4000" dirty="0"/>
              <a:t>6. </a:t>
            </a:r>
            <a:r>
              <a:rPr lang="nl-NL" sz="4000" dirty="0">
                <a:ea typeface="+mj-lt"/>
                <a:cs typeface="+mj-lt"/>
              </a:rPr>
              <a:t>Difficulties</a:t>
            </a:r>
            <a:endParaRPr lang="nl-NL" sz="3800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F03C531A-D4BA-D113-78EB-0FBEA30BF345}"/>
              </a:ext>
            </a:extLst>
          </p:cNvPr>
          <p:cNvSpPr txBox="1"/>
          <p:nvPr/>
        </p:nvSpPr>
        <p:spPr>
          <a:xfrm>
            <a:off x="409040" y="1244532"/>
            <a:ext cx="6456086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nl-NL" sz="2500" dirty="0"/>
              <a:t>Are data </a:t>
            </a:r>
            <a:r>
              <a:rPr lang="nl-NL" sz="2500" dirty="0" err="1"/>
              <a:t>still</a:t>
            </a:r>
            <a:r>
              <a:rPr lang="nl-NL" sz="2500" dirty="0"/>
              <a:t> safe in data </a:t>
            </a:r>
            <a:r>
              <a:rPr lang="nl-NL" sz="2500" dirty="0" err="1"/>
              <a:t>repositories</a:t>
            </a:r>
            <a:r>
              <a:rPr lang="nl-NL" sz="2500" dirty="0"/>
              <a:t>? </a:t>
            </a:r>
            <a:endParaRPr lang="nl-NL" dirty="0"/>
          </a:p>
          <a:p>
            <a:pPr marL="342900" indent="-342900">
              <a:buFont typeface="Calibri"/>
              <a:buChar char="-"/>
            </a:pPr>
            <a:r>
              <a:rPr lang="nl-NL" sz="2500" dirty="0" err="1"/>
              <a:t>Can</a:t>
            </a:r>
            <a:r>
              <a:rPr lang="nl-NL" sz="2500" dirty="0"/>
              <a:t> we trust </a:t>
            </a:r>
            <a:r>
              <a:rPr lang="nl-NL" sz="2500" dirty="0" err="1"/>
              <a:t>that</a:t>
            </a:r>
            <a:r>
              <a:rPr lang="nl-NL" sz="2500" dirty="0"/>
              <a:t> </a:t>
            </a:r>
            <a:r>
              <a:rPr lang="nl-NL" sz="2500" dirty="0" err="1"/>
              <a:t>all</a:t>
            </a:r>
            <a:r>
              <a:rPr lang="nl-NL" sz="2500" dirty="0"/>
              <a:t> shared data are </a:t>
            </a:r>
            <a:r>
              <a:rPr lang="nl-NL" sz="2500" dirty="0" err="1"/>
              <a:t>findable</a:t>
            </a:r>
            <a:r>
              <a:rPr lang="nl-NL" sz="2500" dirty="0"/>
              <a:t> and </a:t>
            </a:r>
            <a:r>
              <a:rPr lang="nl-NL" sz="2500" dirty="0" err="1"/>
              <a:t>unchanged</a:t>
            </a:r>
            <a:r>
              <a:rPr lang="nl-NL" sz="2500" dirty="0"/>
              <a:t>?</a:t>
            </a:r>
          </a:p>
        </p:txBody>
      </p:sp>
      <p:pic>
        <p:nvPicPr>
          <p:cNvPr id="4" name="Afbeelding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9741CE-79F9-2CCC-EA41-43D8112D95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66" b="317"/>
          <a:stretch>
            <a:fillRect/>
          </a:stretch>
        </p:blipFill>
        <p:spPr>
          <a:xfrm>
            <a:off x="1831" y="3058897"/>
            <a:ext cx="7219733" cy="3802092"/>
          </a:xfrm>
          <a:prstGeom prst="rect">
            <a:avLst/>
          </a:prstGeom>
        </p:spPr>
      </p:pic>
      <p:pic>
        <p:nvPicPr>
          <p:cNvPr id="7" name="Afbeelding 6" descr="A white and red text on a white background&#10;&#10;AI-generated content may be incorrect.">
            <a:extLst>
              <a:ext uri="{FF2B5EF4-FFF2-40B4-BE49-F238E27FC236}">
                <a16:creationId xmlns:a16="http://schemas.microsoft.com/office/drawing/2014/main" id="{1E7588FE-BEB3-7E31-FF43-48743A792A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2"/>
          <a:stretch>
            <a:fillRect/>
          </a:stretch>
        </p:blipFill>
        <p:spPr>
          <a:xfrm>
            <a:off x="7186721" y="1915978"/>
            <a:ext cx="5009504" cy="493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083700"/>
      </p:ext>
    </p:extLst>
  </p:cSld>
  <p:clrMapOvr>
    <a:masterClrMapping/>
  </p:clrMapOvr>
  <p:transition spd="slow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76B1F-6393-663F-5ACF-7EC53DA6A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9E7DD08-38A2-D874-684D-235CF4861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61" y="404664"/>
            <a:ext cx="11793689" cy="432048"/>
          </a:xfrm>
        </p:spPr>
        <p:txBody>
          <a:bodyPr/>
          <a:lstStyle/>
          <a:p>
            <a:r>
              <a:rPr lang="en-GB" sz="4000" dirty="0"/>
              <a:t>6. </a:t>
            </a:r>
            <a:r>
              <a:rPr lang="nl-NL" sz="4000" dirty="0">
                <a:ea typeface="+mj-lt"/>
                <a:cs typeface="+mj-lt"/>
              </a:rPr>
              <a:t>Difficulties</a:t>
            </a:r>
            <a:endParaRPr lang="nl-NL" sz="3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0542B-BE4C-F3C6-4794-50A1AB8779C8}"/>
              </a:ext>
            </a:extLst>
          </p:cNvPr>
          <p:cNvSpPr txBox="1"/>
          <p:nvPr/>
        </p:nvSpPr>
        <p:spPr>
          <a:xfrm>
            <a:off x="383562" y="1052736"/>
            <a:ext cx="11332238" cy="3416271"/>
          </a:xfrm>
          <a:prstGeom prst="rect">
            <a:avLst/>
          </a:prstGeom>
          <a:noFill/>
        </p:spPr>
        <p:txBody>
          <a:bodyPr wrap="square" lIns="91392" tIns="45696" rIns="91392" bIns="45696" rtlCol="0" anchor="t">
            <a:spAutoFit/>
          </a:bodyPr>
          <a:lstStyle/>
          <a:p>
            <a:endParaRPr lang="nl-NL" sz="3600" dirty="0">
              <a:solidFill>
                <a:schemeClr val="bg2"/>
              </a:solidFill>
            </a:endParaRPr>
          </a:p>
          <a:p>
            <a:r>
              <a:rPr lang="nl-NL" sz="3600">
                <a:solidFill>
                  <a:schemeClr val="bg2"/>
                </a:solidFill>
              </a:rPr>
              <a:t>A lot to improve! </a:t>
            </a:r>
            <a:endParaRPr lang="nl-NL">
              <a:solidFill>
                <a:schemeClr val="bg2"/>
              </a:solidFill>
            </a:endParaRPr>
          </a:p>
          <a:p>
            <a:endParaRPr lang="nl-NL" sz="3600" dirty="0">
              <a:solidFill>
                <a:schemeClr val="bg2"/>
              </a:solidFill>
            </a:endParaRPr>
          </a:p>
          <a:p>
            <a:r>
              <a:rPr lang="nl-NL" sz="3600">
                <a:solidFill>
                  <a:schemeClr val="bg2"/>
                </a:solidFill>
              </a:rPr>
              <a:t>But hopefully publication packages are a step in the </a:t>
            </a:r>
            <a:r>
              <a:rPr lang="nl-NL" sz="3600" dirty="0">
                <a:solidFill>
                  <a:schemeClr val="bg2"/>
                </a:solidFill>
              </a:rPr>
              <a:t>right direction towards transparent and replicable research and data reuse.</a:t>
            </a:r>
          </a:p>
        </p:txBody>
      </p:sp>
    </p:spTree>
    <p:extLst>
      <p:ext uri="{BB962C8B-B14F-4D97-AF65-F5344CB8AC3E}">
        <p14:creationId xmlns:p14="http://schemas.microsoft.com/office/powerpoint/2010/main" val="203379723"/>
      </p:ext>
    </p:extLst>
  </p:cSld>
  <p:clrMapOvr>
    <a:masterClrMapping/>
  </p:clrMapOvr>
  <p:transition spd="slow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5C6DB-F978-8B4B-9A2D-BF5FE9FA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EB7A5EA-B79F-5D03-FBE8-6EC23933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61" y="404664"/>
            <a:ext cx="11793689" cy="432048"/>
          </a:xfrm>
        </p:spPr>
        <p:txBody>
          <a:bodyPr/>
          <a:lstStyle/>
          <a:p>
            <a:r>
              <a:rPr lang="nl-NL" sz="4000" dirty="0"/>
              <a:t>Conclusions</a:t>
            </a:r>
            <a:endParaRPr lang="nl-NL" sz="3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D76C46-B394-054A-0253-A76D5DDE3ECB}"/>
              </a:ext>
            </a:extLst>
          </p:cNvPr>
          <p:cNvSpPr txBox="1"/>
          <p:nvPr/>
        </p:nvSpPr>
        <p:spPr>
          <a:xfrm>
            <a:off x="383562" y="1052736"/>
            <a:ext cx="11332238" cy="5078265"/>
          </a:xfrm>
          <a:prstGeom prst="rect">
            <a:avLst/>
          </a:prstGeom>
          <a:noFill/>
        </p:spPr>
        <p:txBody>
          <a:bodyPr wrap="square" lIns="91392" tIns="45696" rIns="91392" bIns="45696" rtlCol="0" anchor="t">
            <a:spAutoFit/>
          </a:bodyPr>
          <a:lstStyle/>
          <a:p>
            <a:r>
              <a:rPr lang="nl-NL" sz="3600" dirty="0">
                <a:solidFill>
                  <a:schemeClr val="bg2"/>
                </a:solidFill>
              </a:rPr>
              <a:t>Goal: To organize your data throughout the entire </a:t>
            </a:r>
            <a:r>
              <a:rPr lang="nl-NL" sz="3600">
                <a:solidFill>
                  <a:schemeClr val="bg2"/>
                </a:solidFill>
              </a:rPr>
              <a:t>research process.</a:t>
            </a:r>
          </a:p>
          <a:p>
            <a:endParaRPr lang="nl-NL" sz="3600" dirty="0">
              <a:solidFill>
                <a:schemeClr val="bg2"/>
              </a:solidFill>
            </a:endParaRPr>
          </a:p>
          <a:p>
            <a:r>
              <a:rPr lang="nl-NL" sz="3600" dirty="0">
                <a:solidFill>
                  <a:schemeClr val="bg2"/>
                </a:solidFill>
              </a:rPr>
              <a:t>Key messages:</a:t>
            </a:r>
            <a:br>
              <a:rPr lang="nl-NL" sz="3600" dirty="0">
                <a:solidFill>
                  <a:schemeClr val="bg2"/>
                </a:solidFill>
              </a:rPr>
            </a:br>
            <a:r>
              <a:rPr lang="nl-NL" sz="3600" dirty="0">
                <a:solidFill>
                  <a:schemeClr val="bg2"/>
                </a:solidFill>
              </a:rPr>
              <a:t>-Start organizing in the beginning of your research. </a:t>
            </a:r>
          </a:p>
          <a:p>
            <a:r>
              <a:rPr lang="nl-NL" sz="3600" dirty="0">
                <a:solidFill>
                  <a:schemeClr val="bg2"/>
                </a:solidFill>
              </a:rPr>
              <a:t>-Keep in mind: Without documentation, you have nothing</a:t>
            </a:r>
          </a:p>
          <a:p>
            <a:r>
              <a:rPr lang="nl-NL" sz="3600" dirty="0">
                <a:solidFill>
                  <a:schemeClr val="bg2"/>
                </a:solidFill>
              </a:rPr>
              <a:t>-Archiving/sharing your data contributes to a culture of transparency and collaboration</a:t>
            </a:r>
            <a:endParaRPr lang="nl-NL" sz="3600" dirty="0">
              <a:solidFill>
                <a:schemeClr val="bg2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51622291"/>
      </p:ext>
    </p:extLst>
  </p:cSld>
  <p:clrMapOvr>
    <a:masterClrMapping/>
  </p:clrMapOvr>
  <p:transition spd="slow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1A313-E2E1-E136-AA1C-3D9FD3963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0CD10D7-286C-D381-D40B-0B7C1F2B9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61" y="404664"/>
            <a:ext cx="11793689" cy="432048"/>
          </a:xfrm>
        </p:spPr>
        <p:txBody>
          <a:bodyPr/>
          <a:lstStyle/>
          <a:p>
            <a:r>
              <a:rPr lang="nl-NL" sz="4000" dirty="0"/>
              <a:t>Conclusions</a:t>
            </a:r>
            <a:endParaRPr lang="nl-NL" sz="3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916D4-5DE7-1F91-3C59-094E8B7B718E}"/>
              </a:ext>
            </a:extLst>
          </p:cNvPr>
          <p:cNvSpPr txBox="1"/>
          <p:nvPr/>
        </p:nvSpPr>
        <p:spPr>
          <a:xfrm>
            <a:off x="383562" y="1052736"/>
            <a:ext cx="11332238" cy="3416271"/>
          </a:xfrm>
          <a:prstGeom prst="rect">
            <a:avLst/>
          </a:prstGeom>
          <a:noFill/>
        </p:spPr>
        <p:txBody>
          <a:bodyPr wrap="square" lIns="91392" tIns="45696" rIns="91392" bIns="45696" rtlCol="0" anchor="t">
            <a:spAutoFit/>
          </a:bodyPr>
          <a:lstStyle/>
          <a:p>
            <a:endParaRPr lang="nl-NL" sz="3600" dirty="0">
              <a:solidFill>
                <a:schemeClr val="bg2"/>
              </a:solidFill>
            </a:endParaRPr>
          </a:p>
          <a:p>
            <a:endParaRPr lang="nl-NL" sz="3600" dirty="0">
              <a:solidFill>
                <a:schemeClr val="bg2"/>
              </a:solidFill>
            </a:endParaRPr>
          </a:p>
          <a:p>
            <a:r>
              <a:rPr lang="nl-NL" sz="3600" dirty="0">
                <a:solidFill>
                  <a:schemeClr val="bg2"/>
                </a:solidFill>
              </a:rPr>
              <a:t>What is the most important takeaway for you from todays workshop?</a:t>
            </a:r>
          </a:p>
          <a:p>
            <a:endParaRPr lang="nl-NL" sz="3600" dirty="0">
              <a:solidFill>
                <a:schemeClr val="bg2"/>
              </a:solidFill>
            </a:endParaRPr>
          </a:p>
          <a:p>
            <a:r>
              <a:rPr lang="nl-NL" sz="3600" dirty="0">
                <a:solidFill>
                  <a:schemeClr val="bg2"/>
                </a:solidFill>
              </a:rPr>
              <a:t>How will you implement this in your work?</a:t>
            </a:r>
            <a:endParaRPr lang="nl-NL" sz="3600" dirty="0">
              <a:solidFill>
                <a:schemeClr val="bg2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36623285"/>
      </p:ext>
    </p:extLst>
  </p:cSld>
  <p:clrMapOvr>
    <a:masterClrMapping/>
  </p:clrMapOvr>
  <p:transition spd="slow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quarter" idx="4294967295"/>
          </p:nvPr>
        </p:nvSpPr>
        <p:spPr>
          <a:xfrm>
            <a:off x="0" y="-1"/>
            <a:ext cx="12198349" cy="4521941"/>
          </a:xfrm>
        </p:spPr>
        <p:txBody>
          <a:bodyPr/>
          <a:lstStyle/>
          <a:p>
            <a:endParaRPr lang="nl-NL"/>
          </a:p>
        </p:txBody>
      </p:sp>
      <p:sp>
        <p:nvSpPr>
          <p:cNvPr id="2" name="Tijdelijke aanduiding voor tekst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526835830"/>
      </p:ext>
    </p:extLst>
  </p:cSld>
  <p:clrMapOvr>
    <a:masterClrMapping/>
  </p:clrMapOvr>
  <p:transition spd="slow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eb7d687f18d1b9920e6da61b690a6528afd9b46"/>
</p:tagLst>
</file>

<file path=ppt/theme/theme1.xml><?xml version="1.0" encoding="utf-8"?>
<a:theme xmlns:a="http://schemas.openxmlformats.org/drawingml/2006/main" name="Corporate template-set Universiteit Leiden">
  <a:themeElements>
    <a:clrScheme name="Aangepast 28">
      <a:dk1>
        <a:srgbClr val="000000"/>
      </a:dk1>
      <a:lt1>
        <a:srgbClr val="FFFFFF"/>
      </a:lt1>
      <a:dk2>
        <a:srgbClr val="8592BC"/>
      </a:dk2>
      <a:lt2>
        <a:srgbClr val="001158"/>
      </a:lt2>
      <a:accent1>
        <a:srgbClr val="9EBA2E"/>
      </a:accent1>
      <a:accent2>
        <a:srgbClr val="5CB1EB"/>
      </a:accent2>
      <a:accent3>
        <a:srgbClr val="34A3A9"/>
      </a:accent3>
      <a:accent4>
        <a:srgbClr val="F46E32"/>
      </a:accent4>
      <a:accent5>
        <a:srgbClr val="2C712D"/>
      </a:accent5>
      <a:accent6>
        <a:srgbClr val="B02079"/>
      </a:accent6>
      <a:hlink>
        <a:srgbClr val="0033CC"/>
      </a:hlink>
      <a:folHlink>
        <a:srgbClr val="7030A0"/>
      </a:folHlink>
    </a:clrScheme>
    <a:fontScheme name="Universiteit Leiden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-9-windows-nl-met-slidenr1.potx" id="{A8955BF8-D7B1-4041-8C5E-A0BB7FB00B95}" vid="{61D23513-D175-4964-9CA1-D65DE75929D8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3F65C69C6C26449227B71ADE07FFAF" ma:contentTypeVersion="17" ma:contentTypeDescription="Een nieuw document maken." ma:contentTypeScope="" ma:versionID="d71523e16353047343111799355e1201">
  <xsd:schema xmlns:xsd="http://www.w3.org/2001/XMLSchema" xmlns:xs="http://www.w3.org/2001/XMLSchema" xmlns:p="http://schemas.microsoft.com/office/2006/metadata/properties" xmlns:ns2="cd760409-cf5a-4dde-af98-45a563cf2c4e" xmlns:ns3="eafb1e27-4675-408f-b82d-60073cecff63" targetNamespace="http://schemas.microsoft.com/office/2006/metadata/properties" ma:root="true" ma:fieldsID="1b81f4a5f69ce676cb21f5ac84463551" ns2:_="" ns3:_="">
    <xsd:import namespace="cd760409-cf5a-4dde-af98-45a563cf2c4e"/>
    <xsd:import namespace="eafb1e27-4675-408f-b82d-60073cecff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760409-cf5a-4dde-af98-45a563cf2c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Afbeeldingtags" ma:readOnly="false" ma:fieldId="{5cf76f15-5ced-4ddc-b409-7134ff3c332f}" ma:taxonomyMulti="true" ma:sspId="5631252e-6fa5-4b2b-9987-d0b6e83c6b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fb1e27-4675-408f-b82d-60073cecff6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24a1423-cf46-4eb9-95c9-f8c3593a9ee9}" ma:internalName="TaxCatchAll" ma:showField="CatchAllData" ma:web="eafb1e27-4675-408f-b82d-60073cecff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d760409-cf5a-4dde-af98-45a563cf2c4e">
      <Terms xmlns="http://schemas.microsoft.com/office/infopath/2007/PartnerControls"/>
    </lcf76f155ced4ddcb4097134ff3c332f>
    <TaxCatchAll xmlns="eafb1e27-4675-408f-b82d-60073cecff63" xsi:nil="true"/>
  </documentManagement>
</p:properties>
</file>

<file path=customXml/itemProps1.xml><?xml version="1.0" encoding="utf-8"?>
<ds:datastoreItem xmlns:ds="http://schemas.openxmlformats.org/officeDocument/2006/customXml" ds:itemID="{38001EB0-4AE0-458A-87DE-72458D1560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45CFC8-1772-4BE6-89F0-75B9311039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760409-cf5a-4dde-af98-45a563cf2c4e"/>
    <ds:schemaRef ds:uri="eafb1e27-4675-408f-b82d-60073cecff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B288B81-2CDB-4143-95BC-1AAE557C38B4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eafb1e27-4675-408f-b82d-60073cecff63"/>
    <ds:schemaRef ds:uri="http://purl.org/dc/elements/1.1/"/>
    <ds:schemaRef ds:uri="http://www.w3.org/XML/1998/namespace"/>
    <ds:schemaRef ds:uri="http://schemas.microsoft.com/office/infopath/2007/PartnerControls"/>
    <ds:schemaRef ds:uri="cd760409-cf5a-4dde-af98-45a563cf2c4e"/>
    <ds:schemaRef ds:uri="http://schemas.microsoft.com/office/2006/metadata/propertie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d465f887-04a9-4c17-8b62-103eddccf68b}" enabled="1" method="Standard" siteId="{ca2a7f76-dbd7-4ec0-9108-6b3d524fb7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Kladversie publicatiepakketten met opmaak 0.7</Template>
  <TotalTime>0</TotalTime>
  <Words>1762</Words>
  <Application>Microsoft Office PowerPoint</Application>
  <PresentationFormat>Custom</PresentationFormat>
  <Paragraphs>247</Paragraphs>
  <Slides>36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Calibri</vt:lpstr>
      <vt:lpstr>Aptos</vt:lpstr>
      <vt:lpstr>Playfair Display</vt:lpstr>
      <vt:lpstr>Georgia</vt:lpstr>
      <vt:lpstr>Roboto Slab</vt:lpstr>
      <vt:lpstr>Minion</vt:lpstr>
      <vt:lpstr>Times New Roman</vt:lpstr>
      <vt:lpstr>Arial,Sans-Serif</vt:lpstr>
      <vt:lpstr>Arial</vt:lpstr>
      <vt:lpstr>Segoe UI</vt:lpstr>
      <vt:lpstr>WordVisiCarriageReturn_MSFontService</vt:lpstr>
      <vt:lpstr>Corporate template-set Universiteit Leiden</vt:lpstr>
      <vt:lpstr>From raw data to publication package  Part 2: Publication packages, a step towards transparency, reproducibility, and reusability of data?</vt:lpstr>
      <vt:lpstr>PowerPoint Presentation</vt:lpstr>
      <vt:lpstr>Overview</vt:lpstr>
      <vt:lpstr>Let me introduce myself:</vt:lpstr>
      <vt:lpstr>1. What is a Publication Package?</vt:lpstr>
      <vt:lpstr>PowerPoint Presentation</vt:lpstr>
      <vt:lpstr>1. What is a publication package?</vt:lpstr>
      <vt:lpstr>1. What is a publication package?</vt:lpstr>
      <vt:lpstr>2. What is the importance of publication packages?</vt:lpstr>
      <vt:lpstr>2. What is the importance of publication packages?</vt:lpstr>
      <vt:lpstr>2. What is the importance of publication packages?</vt:lpstr>
      <vt:lpstr>2. What is the importance of publication packages?</vt:lpstr>
      <vt:lpstr>PowerPoint Presentation</vt:lpstr>
      <vt:lpstr>2. What is the importance of publication packages?</vt:lpstr>
      <vt:lpstr>Questions?</vt:lpstr>
      <vt:lpstr>3. Where do we store publication packages?</vt:lpstr>
      <vt:lpstr>3. Where do we store publication packages?</vt:lpstr>
      <vt:lpstr>PowerPoint Presentation</vt:lpstr>
      <vt:lpstr>4. Exercise: How FAIR is this publication package?</vt:lpstr>
      <vt:lpstr>4. Exercise: How FAIR is this publication package?</vt:lpstr>
      <vt:lpstr>4. Exercise: How FAIR is this publication package?</vt:lpstr>
      <vt:lpstr>BREAK</vt:lpstr>
      <vt:lpstr>5. Privacy and sensitive data</vt:lpstr>
      <vt:lpstr>5. Privacy and sensitive data</vt:lpstr>
      <vt:lpstr>Leave out/change sensitive or identifiable data</vt:lpstr>
      <vt:lpstr>PowerPoint Presentation</vt:lpstr>
      <vt:lpstr>5. Privacy and Sensitive data</vt:lpstr>
      <vt:lpstr>6. Difficulties</vt:lpstr>
      <vt:lpstr>6. Difficulties</vt:lpstr>
      <vt:lpstr>6. Difficulties</vt:lpstr>
      <vt:lpstr>6. Difficulties</vt:lpstr>
      <vt:lpstr>6. Difficulties</vt:lpstr>
      <vt:lpstr>6. Difficulties</vt:lpstr>
      <vt:lpstr>Conclusions</vt:lpstr>
      <vt:lpstr>Conclusions</vt:lpstr>
      <vt:lpstr>Any questions?</vt:lpstr>
    </vt:vector>
  </TitlesOfParts>
  <Company>Universiteit Leiden - ISSC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 ruwe data tot publicatiepakket Deel 2: Publicatiepakketten, een stap naar transparantie, repliceerbaarheid en hergebruik van data?</dc:title>
  <dc:creator>Plomp, W.P. (Willemijn)</dc:creator>
  <cp:lastModifiedBy>Marta Kargól</cp:lastModifiedBy>
  <cp:revision>356</cp:revision>
  <dcterms:created xsi:type="dcterms:W3CDTF">2025-03-13T10:04:02Z</dcterms:created>
  <dcterms:modified xsi:type="dcterms:W3CDTF">2026-07-14T13:16:49Z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0x0101005F3F65C69C6C26449227B71ADE07FFAF</vt:lpwstr>
  </property>
  <property fmtid="{D5CDD505-2E9C-101B-9397-08002B2CF9AE}" pid="3" name="MediaServiceImageTags">
    <vt:lpwstr/>
  </property>
</Properties>
</file>